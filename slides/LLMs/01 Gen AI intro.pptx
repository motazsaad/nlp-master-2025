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handoutMasters/handoutMaster1.xml" ContentType="application/vnd.openxmlformats-officedocument.presentationml.handoutMaster+xml"/>
  <Override PartName="/ppt/media/image7.webp" ContentType="image/webp"/>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8"/>
  </p:notesMasterIdLst>
  <p:handoutMasterIdLst>
    <p:handoutMasterId r:id="rId72"/>
  </p:handoutMasterIdLst>
  <p:sldIdLst>
    <p:sldId id="256" r:id="rId3"/>
    <p:sldId id="471" r:id="rId4"/>
    <p:sldId id="319" r:id="rId5"/>
    <p:sldId id="320" r:id="rId6"/>
    <p:sldId id="1237" r:id="rId7"/>
    <p:sldId id="853" r:id="rId9"/>
    <p:sldId id="321" r:id="rId10"/>
    <p:sldId id="323" r:id="rId11"/>
    <p:sldId id="324" r:id="rId12"/>
    <p:sldId id="325" r:id="rId13"/>
    <p:sldId id="328" r:id="rId14"/>
    <p:sldId id="860" r:id="rId15"/>
    <p:sldId id="326" r:id="rId16"/>
    <p:sldId id="676" r:id="rId17"/>
    <p:sldId id="327" r:id="rId18"/>
    <p:sldId id="892" r:id="rId19"/>
    <p:sldId id="871" r:id="rId20"/>
    <p:sldId id="1138" r:id="rId21"/>
    <p:sldId id="924" r:id="rId22"/>
    <p:sldId id="861" r:id="rId23"/>
    <p:sldId id="1139" r:id="rId24"/>
    <p:sldId id="868" r:id="rId25"/>
    <p:sldId id="1311" r:id="rId26"/>
    <p:sldId id="863" r:id="rId27"/>
    <p:sldId id="864" r:id="rId28"/>
    <p:sldId id="865" r:id="rId29"/>
    <p:sldId id="923" r:id="rId30"/>
    <p:sldId id="866" r:id="rId31"/>
    <p:sldId id="1083" r:id="rId32"/>
    <p:sldId id="905" r:id="rId33"/>
    <p:sldId id="906" r:id="rId34"/>
    <p:sldId id="907" r:id="rId35"/>
    <p:sldId id="908" r:id="rId36"/>
    <p:sldId id="914" r:id="rId37"/>
    <p:sldId id="915" r:id="rId38"/>
    <p:sldId id="911" r:id="rId39"/>
    <p:sldId id="909" r:id="rId40"/>
    <p:sldId id="910" r:id="rId41"/>
    <p:sldId id="912" r:id="rId42"/>
    <p:sldId id="913" r:id="rId43"/>
    <p:sldId id="1198" r:id="rId44"/>
    <p:sldId id="1238" r:id="rId45"/>
    <p:sldId id="1239" r:id="rId46"/>
    <p:sldId id="1240" r:id="rId47"/>
    <p:sldId id="916" r:id="rId48"/>
    <p:sldId id="1312" r:id="rId49"/>
    <p:sldId id="344" r:id="rId50"/>
    <p:sldId id="346" r:id="rId51"/>
    <p:sldId id="345" r:id="rId52"/>
    <p:sldId id="347" r:id="rId53"/>
    <p:sldId id="348" r:id="rId54"/>
    <p:sldId id="349" r:id="rId55"/>
    <p:sldId id="350" r:id="rId56"/>
    <p:sldId id="351" r:id="rId57"/>
    <p:sldId id="888" r:id="rId58"/>
    <p:sldId id="883" r:id="rId59"/>
    <p:sldId id="873" r:id="rId60"/>
    <p:sldId id="1073" r:id="rId61"/>
    <p:sldId id="361" r:id="rId62"/>
    <p:sldId id="362" r:id="rId63"/>
    <p:sldId id="921" r:id="rId64"/>
    <p:sldId id="922" r:id="rId65"/>
    <p:sldId id="1313" r:id="rId66"/>
    <p:sldId id="1314" r:id="rId67"/>
    <p:sldId id="363" r:id="rId68"/>
    <p:sldId id="366" r:id="rId69"/>
    <p:sldId id="1315" r:id="rId70"/>
    <p:sldId id="925" r:id="rId7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notesMaster" Target="notesMasters/notesMaster1.xml"/><Relationship Id="rId75" Type="http://schemas.openxmlformats.org/officeDocument/2006/relationships/tableStyles" Target="tableStyles.xml"/><Relationship Id="rId74" Type="http://schemas.openxmlformats.org/officeDocument/2006/relationships/viewProps" Target="viewProps.xml"/><Relationship Id="rId73" Type="http://schemas.openxmlformats.org/officeDocument/2006/relationships/presProps" Target="presProps.xml"/><Relationship Id="rId72" Type="http://schemas.openxmlformats.org/officeDocument/2006/relationships/handoutMaster" Target="handoutMasters/handoutMaster1.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A77D31B3-3808-4FBA-8FA4-CC8D448A173E}" type="doc">
      <dgm:prSet loTypeId="urn:microsoft.com/office/officeart/2005/8/layout/orgChart1" loCatId="hierarchy" qsTypeId="urn:microsoft.com/office/officeart/2005/8/quickstyle/simple1" qsCatId="simple" csTypeId="urn:microsoft.com/office/officeart/2005/8/colors/accent1_2" csCatId="accent1" phldr="0"/>
      <dgm:spPr/>
      <dgm:t>
        <a:bodyPr/>
        <a:p>
          <a:endParaRPr lang="en-US"/>
        </a:p>
      </dgm:t>
    </dgm:pt>
    <dgm:pt modelId="{47C757F0-AA23-46BE-9311-EA432CDEEAA1}">
      <dgm:prSet phldrT="[Text]" phldr="0" custT="0"/>
      <dgm:spPr/>
      <dgm:t>
        <a:bodyPr vert="horz" wrap="square"/>
        <a:p>
          <a:pPr>
            <a:lnSpc>
              <a:spcPct val="100000"/>
            </a:lnSpc>
            <a:spcBef>
              <a:spcPct val="0"/>
            </a:spcBef>
            <a:spcAft>
              <a:spcPct val="35000"/>
            </a:spcAft>
          </a:pPr>
          <a:r>
            <a:rPr lang="en-US" altLang="en-US"/>
            <a:t>LLMs</a:t>
          </a:r>
          <a:r>
            <a:rPr lang="en-US" altLang="en-US"/>
            <a:t/>
          </a:r>
          <a:endParaRPr lang="en-US" altLang="en-US"/>
        </a:p>
      </dgm:t>
    </dgm:pt>
    <dgm:pt modelId="{AB39B06D-FE6C-48B2-B5B4-77CD0C8CF7AD}" cxnId="{00913B30-CCF4-4137-A48D-85B83F3493BF}" type="parTrans">
      <dgm:prSet/>
      <dgm:spPr/>
      <dgm:t>
        <a:bodyPr/>
        <a:p>
          <a:endParaRPr lang="en-US"/>
        </a:p>
      </dgm:t>
    </dgm:pt>
    <dgm:pt modelId="{DF0D1C21-B79E-4875-B7FA-EF183CB48B88}" cxnId="{00913B30-CCF4-4137-A48D-85B83F3493BF}" type="sibTrans">
      <dgm:prSet/>
      <dgm:spPr/>
      <dgm:t>
        <a:bodyPr/>
        <a:p>
          <a:endParaRPr lang="en-US"/>
        </a:p>
      </dgm:t>
    </dgm:pt>
    <dgm:pt modelId="{12714FC6-8B41-47E5-91DD-F02D34D23B93}">
      <dgm:prSet phldrT="[Text]" phldr="0" custT="0"/>
      <dgm:spPr/>
      <dgm:t>
        <a:bodyPr vert="horz" wrap="square"/>
        <a:p>
          <a:pPr>
            <a:lnSpc>
              <a:spcPct val="100000"/>
            </a:lnSpc>
            <a:spcBef>
              <a:spcPct val="0"/>
            </a:spcBef>
            <a:spcAft>
              <a:spcPct val="35000"/>
            </a:spcAft>
          </a:pPr>
          <a:r>
            <a:rPr lang="en-US"/>
            <a:t>Base LLM</a:t>
          </a:r>
          <a:r>
            <a:rPr lang="en-US"/>
            <a:t/>
          </a:r>
          <a:endParaRPr lang="en-US"/>
        </a:p>
      </dgm:t>
    </dgm:pt>
    <dgm:pt modelId="{EACD17F5-D793-4A43-B489-D1804D50CFEF}" cxnId="{803193BF-719B-475C-BC5F-EF459950F034}" type="parTrans">
      <dgm:prSet/>
      <dgm:spPr/>
      <dgm:t>
        <a:bodyPr/>
        <a:p>
          <a:endParaRPr lang="en-US"/>
        </a:p>
      </dgm:t>
    </dgm:pt>
    <dgm:pt modelId="{FA45D93F-0724-4936-AA45-E6762732A19D}" cxnId="{803193BF-719B-475C-BC5F-EF459950F034}" type="sibTrans">
      <dgm:prSet/>
      <dgm:spPr/>
      <dgm:t>
        <a:bodyPr/>
        <a:p>
          <a:endParaRPr lang="en-US"/>
        </a:p>
      </dgm:t>
    </dgm:pt>
    <dgm:pt modelId="{4EC42421-831D-4CD3-8215-2AF4300F9C01}">
      <dgm:prSet phldrT="[Text]" phldr="0" custT="0"/>
      <dgm:spPr/>
      <dgm:t>
        <a:bodyPr vert="horz" wrap="square"/>
        <a:p>
          <a:pPr>
            <a:lnSpc>
              <a:spcPct val="100000"/>
            </a:lnSpc>
            <a:spcBef>
              <a:spcPct val="0"/>
            </a:spcBef>
            <a:spcAft>
              <a:spcPct val="35000"/>
            </a:spcAft>
          </a:pPr>
          <a:r>
            <a:rPr lang="en-US"/>
            <a:t>Instruct </a:t>
          </a:r>
          <a:r>
            <a:rPr lang="en-US"/>
            <a:t>LLM</a:t>
          </a:r>
          <a:r>
            <a:rPr lang="en-US"/>
            <a:t/>
          </a:r>
          <a:endParaRPr lang="en-US"/>
        </a:p>
      </dgm:t>
    </dgm:pt>
    <dgm:pt modelId="{8D5FB264-0A5C-4C3A-85B7-453D9BD837DF}" cxnId="{E57F6606-00EC-4BC8-8D6C-4C0E13FA1709}" type="parTrans">
      <dgm:prSet/>
      <dgm:spPr/>
      <dgm:t>
        <a:bodyPr/>
        <a:p>
          <a:endParaRPr lang="en-US"/>
        </a:p>
      </dgm:t>
    </dgm:pt>
    <dgm:pt modelId="{A1825131-D805-48C8-BFCE-E45C02E6F5CE}" cxnId="{E57F6606-00EC-4BC8-8D6C-4C0E13FA1709}" type="sibTrans">
      <dgm:prSet/>
      <dgm:spPr/>
      <dgm:t>
        <a:bodyPr/>
        <a:p>
          <a:endParaRPr lang="en-US"/>
        </a:p>
      </dgm:t>
    </dgm:pt>
    <dgm:pt modelId="{E498DC9C-C5AC-4482-A26F-3B99DC5D79F0}" type="pres">
      <dgm:prSet presAssocID="{A77D31B3-3808-4FBA-8FA4-CC8D448A173E}" presName="hierChild1" presStyleCnt="0">
        <dgm:presLayoutVars>
          <dgm:orgChart val="1"/>
          <dgm:chPref val="1"/>
          <dgm:dir/>
          <dgm:animOne val="branch"/>
          <dgm:animLvl val="lvl"/>
          <dgm:resizeHandles/>
        </dgm:presLayoutVars>
      </dgm:prSet>
      <dgm:spPr/>
    </dgm:pt>
    <dgm:pt modelId="{F728C3E8-5128-4BB6-90CC-A86769ECE335}" type="pres">
      <dgm:prSet presAssocID="{47C757F0-AA23-46BE-9311-EA432CDEEAA1}" presName="hierRoot1" presStyleCnt="0">
        <dgm:presLayoutVars>
          <dgm:hierBranch val="init"/>
        </dgm:presLayoutVars>
      </dgm:prSet>
      <dgm:spPr/>
    </dgm:pt>
    <dgm:pt modelId="{79147750-B6BF-43FD-83A0-7ACDC9B53EFF}" type="pres">
      <dgm:prSet presAssocID="{47C757F0-AA23-46BE-9311-EA432CDEEAA1}" presName="rootComposite1" presStyleCnt="0"/>
      <dgm:spPr/>
    </dgm:pt>
    <dgm:pt modelId="{AE79172D-D441-42BB-84EA-E3D989670DED}" type="pres">
      <dgm:prSet presAssocID="{47C757F0-AA23-46BE-9311-EA432CDEEAA1}" presName="rootText1" presStyleLbl="node0" presStyleIdx="0" presStyleCnt="1">
        <dgm:presLayoutVars>
          <dgm:chPref val="3"/>
        </dgm:presLayoutVars>
      </dgm:prSet>
      <dgm:spPr/>
    </dgm:pt>
    <dgm:pt modelId="{86420519-308D-4A6A-8FEA-6FB2E39BA448}" type="pres">
      <dgm:prSet presAssocID="{47C757F0-AA23-46BE-9311-EA432CDEEAA1}" presName="rootConnector1" presStyleCnt="0"/>
      <dgm:spPr/>
    </dgm:pt>
    <dgm:pt modelId="{9A0FF10C-81C7-47CD-A320-768F2009480B}" type="pres">
      <dgm:prSet presAssocID="{47C757F0-AA23-46BE-9311-EA432CDEEAA1}" presName="hierChild2" presStyleCnt="0"/>
      <dgm:spPr/>
    </dgm:pt>
    <dgm:pt modelId="{6A259130-4455-44E0-969B-948D1249687E}" type="pres">
      <dgm:prSet presAssocID="{EACD17F5-D793-4A43-B489-D1804D50CFEF}" presName="Name37" presStyleLbl="parChTrans1D2" presStyleIdx="0" presStyleCnt="2"/>
      <dgm:spPr/>
    </dgm:pt>
    <dgm:pt modelId="{D6C5C065-A308-417C-8ECC-04FC2BEC646C}" type="pres">
      <dgm:prSet presAssocID="{12714FC6-8B41-47E5-91DD-F02D34D23B93}" presName="hierRoot2" presStyleCnt="0">
        <dgm:presLayoutVars>
          <dgm:hierBranch val="init"/>
        </dgm:presLayoutVars>
      </dgm:prSet>
      <dgm:spPr/>
    </dgm:pt>
    <dgm:pt modelId="{E36491EF-5019-46FD-BC82-1BD579B9EE0E}" type="pres">
      <dgm:prSet presAssocID="{12714FC6-8B41-47E5-91DD-F02D34D23B93}" presName="rootComposite" presStyleCnt="0"/>
      <dgm:spPr/>
    </dgm:pt>
    <dgm:pt modelId="{43B7C837-49D6-40CE-BBAB-953D9E4BA7ED}" type="pres">
      <dgm:prSet presAssocID="{12714FC6-8B41-47E5-91DD-F02D34D23B93}" presName="rootText" presStyleLbl="node2" presStyleIdx="0" presStyleCnt="2">
        <dgm:presLayoutVars>
          <dgm:chPref val="3"/>
        </dgm:presLayoutVars>
      </dgm:prSet>
      <dgm:spPr/>
    </dgm:pt>
    <dgm:pt modelId="{9A037140-9B69-4B9F-A134-F2F2EB0F2E32}" type="pres">
      <dgm:prSet presAssocID="{12714FC6-8B41-47E5-91DD-F02D34D23B93}" presName="rootConnector" presStyleCnt="0"/>
      <dgm:spPr/>
    </dgm:pt>
    <dgm:pt modelId="{FA37AA5D-87C2-47F6-9B72-B753C073E744}" type="pres">
      <dgm:prSet presAssocID="{12714FC6-8B41-47E5-91DD-F02D34D23B93}" presName="hierChild4" presStyleCnt="0"/>
      <dgm:spPr/>
    </dgm:pt>
    <dgm:pt modelId="{A7309641-2A58-41EA-9E42-56812CF298ED}" type="pres">
      <dgm:prSet presAssocID="{12714FC6-8B41-47E5-91DD-F02D34D23B93}" presName="hierChild5" presStyleCnt="0"/>
      <dgm:spPr/>
    </dgm:pt>
    <dgm:pt modelId="{F492B679-3C8C-4E72-95A8-8B81298826E7}" type="pres">
      <dgm:prSet presAssocID="{8D5FB264-0A5C-4C3A-85B7-453D9BD837DF}" presName="Name37" presStyleLbl="parChTrans1D2" presStyleIdx="1" presStyleCnt="2"/>
      <dgm:spPr/>
    </dgm:pt>
    <dgm:pt modelId="{C6F584B9-7EA2-46D8-913B-8F508509ECAB}" type="pres">
      <dgm:prSet presAssocID="{4EC42421-831D-4CD3-8215-2AF4300F9C01}" presName="hierRoot2" presStyleCnt="0">
        <dgm:presLayoutVars>
          <dgm:hierBranch val="init"/>
        </dgm:presLayoutVars>
      </dgm:prSet>
      <dgm:spPr/>
    </dgm:pt>
    <dgm:pt modelId="{6CAD9CE6-86A1-4F7D-98A6-3AF53F55F9E3}" type="pres">
      <dgm:prSet presAssocID="{4EC42421-831D-4CD3-8215-2AF4300F9C01}" presName="rootComposite" presStyleCnt="0"/>
      <dgm:spPr/>
    </dgm:pt>
    <dgm:pt modelId="{08A0D1D2-3A20-4D63-8E35-B7C8B6B16D48}" type="pres">
      <dgm:prSet presAssocID="{4EC42421-831D-4CD3-8215-2AF4300F9C01}" presName="rootText" presStyleLbl="node2" presStyleIdx="1" presStyleCnt="2">
        <dgm:presLayoutVars>
          <dgm:chPref val="3"/>
        </dgm:presLayoutVars>
      </dgm:prSet>
      <dgm:spPr/>
    </dgm:pt>
    <dgm:pt modelId="{6238C53E-A961-488B-8FBD-6EC13507B069}" type="pres">
      <dgm:prSet presAssocID="{4EC42421-831D-4CD3-8215-2AF4300F9C01}" presName="rootConnector" presStyleCnt="0"/>
      <dgm:spPr/>
    </dgm:pt>
    <dgm:pt modelId="{A9C46FD3-3BE9-4E6E-BFF6-B0B42B13F857}" type="pres">
      <dgm:prSet presAssocID="{4EC42421-831D-4CD3-8215-2AF4300F9C01}" presName="hierChild4" presStyleCnt="0"/>
      <dgm:spPr/>
    </dgm:pt>
    <dgm:pt modelId="{A663BBFB-A120-4F5B-82EC-DB644DB9966B}" type="pres">
      <dgm:prSet presAssocID="{4EC42421-831D-4CD3-8215-2AF4300F9C01}" presName="hierChild5" presStyleCnt="0"/>
      <dgm:spPr/>
    </dgm:pt>
    <dgm:pt modelId="{0E819307-1B4E-434E-BA76-D5A4192B0663}" type="pres">
      <dgm:prSet presAssocID="{47C757F0-AA23-46BE-9311-EA432CDEEAA1}" presName="hierChild3" presStyleCnt="0"/>
      <dgm:spPr/>
    </dgm:pt>
  </dgm:ptLst>
  <dgm:cxnLst>
    <dgm:cxn modelId="{00913B30-CCF4-4137-A48D-85B83F3493BF}" srcId="{A77D31B3-3808-4FBA-8FA4-CC8D448A173E}" destId="{47C757F0-AA23-46BE-9311-EA432CDEEAA1}" srcOrd="0" destOrd="0" parTransId="{AB39B06D-FE6C-48B2-B5B4-77CD0C8CF7AD}" sibTransId="{DF0D1C21-B79E-4875-B7FA-EF183CB48B88}"/>
    <dgm:cxn modelId="{803193BF-719B-475C-BC5F-EF459950F034}" srcId="{47C757F0-AA23-46BE-9311-EA432CDEEAA1}" destId="{12714FC6-8B41-47E5-91DD-F02D34D23B93}" srcOrd="0" destOrd="0" parTransId="{EACD17F5-D793-4A43-B489-D1804D50CFEF}" sibTransId="{FA45D93F-0724-4936-AA45-E6762732A19D}"/>
    <dgm:cxn modelId="{E57F6606-00EC-4BC8-8D6C-4C0E13FA1709}" srcId="{47C757F0-AA23-46BE-9311-EA432CDEEAA1}" destId="{4EC42421-831D-4CD3-8215-2AF4300F9C01}" srcOrd="1" destOrd="0" parTransId="{8D5FB264-0A5C-4C3A-85B7-453D9BD837DF}" sibTransId="{A1825131-D805-48C8-BFCE-E45C02E6F5CE}"/>
    <dgm:cxn modelId="{A981D276-4EE2-49FF-A838-F95C49F68080}" type="presOf" srcId="{A77D31B3-3808-4FBA-8FA4-CC8D448A173E}" destId="{E498DC9C-C5AC-4482-A26F-3B99DC5D79F0}" srcOrd="0" destOrd="0" presId="urn:microsoft.com/office/officeart/2005/8/layout/orgChart1"/>
    <dgm:cxn modelId="{85370FA6-FA71-45D3-8DD4-62CB9C4E587A}" type="presParOf" srcId="{E498DC9C-C5AC-4482-A26F-3B99DC5D79F0}" destId="{F728C3E8-5128-4BB6-90CC-A86769ECE335}" srcOrd="0" destOrd="0" presId="urn:microsoft.com/office/officeart/2005/8/layout/orgChart1"/>
    <dgm:cxn modelId="{E4771FBC-0128-40C9-AA21-96B8C56AE0AC}" type="presParOf" srcId="{F728C3E8-5128-4BB6-90CC-A86769ECE335}" destId="{79147750-B6BF-43FD-83A0-7ACDC9B53EFF}" srcOrd="0" destOrd="0" presId="urn:microsoft.com/office/officeart/2005/8/layout/orgChart1"/>
    <dgm:cxn modelId="{A6160BCB-EEE7-48F4-A619-CCF9C1D309D2}" type="presOf" srcId="{47C757F0-AA23-46BE-9311-EA432CDEEAA1}" destId="{79147750-B6BF-43FD-83A0-7ACDC9B53EFF}" srcOrd="0" destOrd="0" presId="urn:microsoft.com/office/officeart/2005/8/layout/orgChart1"/>
    <dgm:cxn modelId="{D7E6EDC2-F3AB-4412-9533-597FA2863556}" type="presParOf" srcId="{79147750-B6BF-43FD-83A0-7ACDC9B53EFF}" destId="{AE79172D-D441-42BB-84EA-E3D989670DED}" srcOrd="0" destOrd="0" presId="urn:microsoft.com/office/officeart/2005/8/layout/orgChart1"/>
    <dgm:cxn modelId="{B6BB0E3A-4DB0-4917-863D-C5247E7EDE93}" type="presOf" srcId="{47C757F0-AA23-46BE-9311-EA432CDEEAA1}" destId="{AE79172D-D441-42BB-84EA-E3D989670DED}" srcOrd="0" destOrd="0" presId="urn:microsoft.com/office/officeart/2005/8/layout/orgChart1"/>
    <dgm:cxn modelId="{2201A7B7-2973-4A68-98D5-1A6EA333CD67}" type="presParOf" srcId="{79147750-B6BF-43FD-83A0-7ACDC9B53EFF}" destId="{86420519-308D-4A6A-8FEA-6FB2E39BA448}" srcOrd="1" destOrd="0" presId="urn:microsoft.com/office/officeart/2005/8/layout/orgChart1"/>
    <dgm:cxn modelId="{77D6D442-8477-494C-A32C-074795CF82AB}" type="presOf" srcId="{47C757F0-AA23-46BE-9311-EA432CDEEAA1}" destId="{86420519-308D-4A6A-8FEA-6FB2E39BA448}" srcOrd="0" destOrd="0" presId="urn:microsoft.com/office/officeart/2005/8/layout/orgChart1"/>
    <dgm:cxn modelId="{FDBDDB06-0737-4C38-9A26-3AE689671893}" type="presParOf" srcId="{F728C3E8-5128-4BB6-90CC-A86769ECE335}" destId="{9A0FF10C-81C7-47CD-A320-768F2009480B}" srcOrd="1" destOrd="0" presId="urn:microsoft.com/office/officeart/2005/8/layout/orgChart1"/>
    <dgm:cxn modelId="{987C2C9B-B374-4510-BB2B-2AC5AE225350}" type="presParOf" srcId="{9A0FF10C-81C7-47CD-A320-768F2009480B}" destId="{6A259130-4455-44E0-969B-948D1249687E}" srcOrd="0" destOrd="1" presId="urn:microsoft.com/office/officeart/2005/8/layout/orgChart1"/>
    <dgm:cxn modelId="{F1512691-62C4-4A24-A098-AAC57DC31DC9}" type="presOf" srcId="{EACD17F5-D793-4A43-B489-D1804D50CFEF}" destId="{6A259130-4455-44E0-969B-948D1249687E}" srcOrd="0" destOrd="0" presId="urn:microsoft.com/office/officeart/2005/8/layout/orgChart1"/>
    <dgm:cxn modelId="{9BDE5F82-0423-41BD-880E-F26B30FC9A72}" type="presParOf" srcId="{9A0FF10C-81C7-47CD-A320-768F2009480B}" destId="{D6C5C065-A308-417C-8ECC-04FC2BEC646C}" srcOrd="1" destOrd="1" presId="urn:microsoft.com/office/officeart/2005/8/layout/orgChart1"/>
    <dgm:cxn modelId="{2A28C5FE-8C89-42EB-BE3A-E3DE9385CBF2}" type="presParOf" srcId="{D6C5C065-A308-417C-8ECC-04FC2BEC646C}" destId="{E36491EF-5019-46FD-BC82-1BD579B9EE0E}" srcOrd="0" destOrd="1" presId="urn:microsoft.com/office/officeart/2005/8/layout/orgChart1"/>
    <dgm:cxn modelId="{117EB552-E156-4DE5-A12B-38CD3FFC513E}" type="presOf" srcId="{12714FC6-8B41-47E5-91DD-F02D34D23B93}" destId="{E36491EF-5019-46FD-BC82-1BD579B9EE0E}" srcOrd="0" destOrd="0" presId="urn:microsoft.com/office/officeart/2005/8/layout/orgChart1"/>
    <dgm:cxn modelId="{62F6CDAA-7B84-42A0-9DEC-F8C7A79363BA}" type="presParOf" srcId="{E36491EF-5019-46FD-BC82-1BD579B9EE0E}" destId="{43B7C837-49D6-40CE-BBAB-953D9E4BA7ED}" srcOrd="0" destOrd="0" presId="urn:microsoft.com/office/officeart/2005/8/layout/orgChart1"/>
    <dgm:cxn modelId="{3CCCE014-D877-4B3D-A568-4945E4D9ABD9}" type="presOf" srcId="{12714FC6-8B41-47E5-91DD-F02D34D23B93}" destId="{43B7C837-49D6-40CE-BBAB-953D9E4BA7ED}" srcOrd="0" destOrd="0" presId="urn:microsoft.com/office/officeart/2005/8/layout/orgChart1"/>
    <dgm:cxn modelId="{8C61546D-7459-41C3-882E-CC8D9311C505}" type="presParOf" srcId="{E36491EF-5019-46FD-BC82-1BD579B9EE0E}" destId="{9A037140-9B69-4B9F-A134-F2F2EB0F2E32}" srcOrd="1" destOrd="0" presId="urn:microsoft.com/office/officeart/2005/8/layout/orgChart1"/>
    <dgm:cxn modelId="{BCE9ED77-A5E0-42F8-8E55-41834E1045CE}" type="presOf" srcId="{12714FC6-8B41-47E5-91DD-F02D34D23B93}" destId="{9A037140-9B69-4B9F-A134-F2F2EB0F2E32}" srcOrd="0" destOrd="0" presId="urn:microsoft.com/office/officeart/2005/8/layout/orgChart1"/>
    <dgm:cxn modelId="{55CF8F4E-AE42-411F-8F07-14092936CBEE}" type="presParOf" srcId="{D6C5C065-A308-417C-8ECC-04FC2BEC646C}" destId="{FA37AA5D-87C2-47F6-9B72-B753C073E744}" srcOrd="1" destOrd="1" presId="urn:microsoft.com/office/officeart/2005/8/layout/orgChart1"/>
    <dgm:cxn modelId="{91C8B8D9-4BE8-4959-9952-35C86A27C255}" type="presParOf" srcId="{D6C5C065-A308-417C-8ECC-04FC2BEC646C}" destId="{A7309641-2A58-41EA-9E42-56812CF298ED}" srcOrd="2" destOrd="1" presId="urn:microsoft.com/office/officeart/2005/8/layout/orgChart1"/>
    <dgm:cxn modelId="{8161AD39-D1B2-4283-8FAA-F82A974A66DF}" type="presParOf" srcId="{9A0FF10C-81C7-47CD-A320-768F2009480B}" destId="{F492B679-3C8C-4E72-95A8-8B81298826E7}" srcOrd="2" destOrd="1" presId="urn:microsoft.com/office/officeart/2005/8/layout/orgChart1"/>
    <dgm:cxn modelId="{C2096F4C-E531-4700-9357-E66FCF511BC2}" type="presOf" srcId="{8D5FB264-0A5C-4C3A-85B7-453D9BD837DF}" destId="{F492B679-3C8C-4E72-95A8-8B81298826E7}" srcOrd="0" destOrd="0" presId="urn:microsoft.com/office/officeart/2005/8/layout/orgChart1"/>
    <dgm:cxn modelId="{8D38A2C0-0F8A-4C11-B985-A0920631063F}" type="presParOf" srcId="{9A0FF10C-81C7-47CD-A320-768F2009480B}" destId="{C6F584B9-7EA2-46D8-913B-8F508509ECAB}" srcOrd="3" destOrd="1" presId="urn:microsoft.com/office/officeart/2005/8/layout/orgChart1"/>
    <dgm:cxn modelId="{AD72CEF9-4E27-4D57-9EC1-8848C5856901}" type="presParOf" srcId="{C6F584B9-7EA2-46D8-913B-8F508509ECAB}" destId="{6CAD9CE6-86A1-4F7D-98A6-3AF53F55F9E3}" srcOrd="0" destOrd="3" presId="urn:microsoft.com/office/officeart/2005/8/layout/orgChart1"/>
    <dgm:cxn modelId="{BE64A718-C069-4391-8910-54E2EF173031}" type="presOf" srcId="{4EC42421-831D-4CD3-8215-2AF4300F9C01}" destId="{6CAD9CE6-86A1-4F7D-98A6-3AF53F55F9E3}" srcOrd="0" destOrd="0" presId="urn:microsoft.com/office/officeart/2005/8/layout/orgChart1"/>
    <dgm:cxn modelId="{5729806E-C027-413D-9D24-F61CDB31109A}" type="presParOf" srcId="{6CAD9CE6-86A1-4F7D-98A6-3AF53F55F9E3}" destId="{08A0D1D2-3A20-4D63-8E35-B7C8B6B16D48}" srcOrd="0" destOrd="0" presId="urn:microsoft.com/office/officeart/2005/8/layout/orgChart1"/>
    <dgm:cxn modelId="{1FAFFE7D-9805-4766-96C7-13205D4D05F5}" type="presOf" srcId="{4EC42421-831D-4CD3-8215-2AF4300F9C01}" destId="{08A0D1D2-3A20-4D63-8E35-B7C8B6B16D48}" srcOrd="0" destOrd="0" presId="urn:microsoft.com/office/officeart/2005/8/layout/orgChart1"/>
    <dgm:cxn modelId="{F6C5DF90-793B-4C7B-B3AF-811101AFA7CC}" type="presParOf" srcId="{6CAD9CE6-86A1-4F7D-98A6-3AF53F55F9E3}" destId="{6238C53E-A961-488B-8FBD-6EC13507B069}" srcOrd="1" destOrd="0" presId="urn:microsoft.com/office/officeart/2005/8/layout/orgChart1"/>
    <dgm:cxn modelId="{A831C7E6-FC02-46CD-911C-BDE4876166C4}" type="presOf" srcId="{4EC42421-831D-4CD3-8215-2AF4300F9C01}" destId="{6238C53E-A961-488B-8FBD-6EC13507B069}" srcOrd="0" destOrd="0" presId="urn:microsoft.com/office/officeart/2005/8/layout/orgChart1"/>
    <dgm:cxn modelId="{6FACF87E-5673-4CF6-A806-29933F369CE8}" type="presParOf" srcId="{C6F584B9-7EA2-46D8-913B-8F508509ECAB}" destId="{A9C46FD3-3BE9-4E6E-BFF6-B0B42B13F857}" srcOrd="1" destOrd="3" presId="urn:microsoft.com/office/officeart/2005/8/layout/orgChart1"/>
    <dgm:cxn modelId="{366A13A5-6102-4F9F-ABE2-CA3A7FDC77B5}" type="presParOf" srcId="{C6F584B9-7EA2-46D8-913B-8F508509ECAB}" destId="{A663BBFB-A120-4F5B-82EC-DB644DB9966B}" srcOrd="2" destOrd="3" presId="urn:microsoft.com/office/officeart/2005/8/layout/orgChart1"/>
    <dgm:cxn modelId="{A9D23E49-3BDF-4FAA-93BA-A4197F249DA1}" type="presParOf" srcId="{F728C3E8-5128-4BB6-90CC-A86769ECE335}" destId="{0E819307-1B4E-434E-BA76-D5A4192B0663}" srcOrd="2" destOrd="0" presId="urn:microsoft.com/office/officeart/2005/8/layout/orgChar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8431530" cy="4996180"/>
        <a:chOff x="0" y="0"/>
        <a:chExt cx="8431530" cy="4996180"/>
      </a:xfrm>
    </dsp:grpSpPr>
    <dsp:sp modelId="{6A259130-4455-44E0-969B-948D1249687E}">
      <dsp:nvSpPr>
        <dsp:cNvPr id="5" name="Freeform 4"/>
        <dsp:cNvSpPr/>
      </dsp:nvSpPr>
      <dsp:spPr bwMode="white">
        <a:xfrm>
          <a:off x="1907586" y="2097497"/>
          <a:ext cx="2308179" cy="801186"/>
        </a:xfrm>
        <a:custGeom>
          <a:avLst/>
          <a:gdLst/>
          <a:ahLst/>
          <a:cxnLst/>
          <a:pathLst>
            <a:path w="3635" h="1262">
              <a:moveTo>
                <a:pt x="3635" y="0"/>
              </a:moveTo>
              <a:lnTo>
                <a:pt x="3635" y="631"/>
              </a:lnTo>
              <a:lnTo>
                <a:pt x="0" y="631"/>
              </a:lnTo>
              <a:lnTo>
                <a:pt x="0" y="1262"/>
              </a:lnTo>
            </a:path>
          </a:pathLst>
        </a:custGeom>
      </dsp:spPr>
      <dsp:style>
        <a:lnRef idx="2">
          <a:schemeClr val="accent1">
            <a:shade val="60000"/>
          </a:schemeClr>
        </a:lnRef>
        <a:fillRef idx="0">
          <a:schemeClr val="accent1"/>
        </a:fillRef>
        <a:effectRef idx="0">
          <a:scrgbClr r="0" g="0" b="0"/>
        </a:effectRef>
        <a:fontRef idx="minor"/>
      </dsp:style>
      <dsp:txXfrm>
        <a:off x="1907586" y="2097497"/>
        <a:ext cx="2308179" cy="801186"/>
      </dsp:txXfrm>
    </dsp:sp>
    <dsp:sp modelId="{F492B679-3C8C-4E72-95A8-8B81298826E7}">
      <dsp:nvSpPr>
        <dsp:cNvPr id="8" name="Freeform 7"/>
        <dsp:cNvSpPr/>
      </dsp:nvSpPr>
      <dsp:spPr bwMode="white">
        <a:xfrm>
          <a:off x="4215765" y="2097497"/>
          <a:ext cx="2308179" cy="801186"/>
        </a:xfrm>
        <a:custGeom>
          <a:avLst/>
          <a:gdLst/>
          <a:ahLst/>
          <a:cxnLst/>
          <a:pathLst>
            <a:path w="3635" h="1262">
              <a:moveTo>
                <a:pt x="0" y="0"/>
              </a:moveTo>
              <a:lnTo>
                <a:pt x="0" y="631"/>
              </a:lnTo>
              <a:lnTo>
                <a:pt x="3635" y="631"/>
              </a:lnTo>
              <a:lnTo>
                <a:pt x="3635" y="1262"/>
              </a:lnTo>
            </a:path>
          </a:pathLst>
        </a:custGeom>
      </dsp:spPr>
      <dsp:style>
        <a:lnRef idx="2">
          <a:schemeClr val="accent1">
            <a:shade val="60000"/>
          </a:schemeClr>
        </a:lnRef>
        <a:fillRef idx="0">
          <a:schemeClr val="accent1"/>
        </a:fillRef>
        <a:effectRef idx="0">
          <a:scrgbClr r="0" g="0" b="0"/>
        </a:effectRef>
        <a:fontRef idx="minor"/>
      </dsp:style>
      <dsp:txXfrm>
        <a:off x="4215765" y="2097497"/>
        <a:ext cx="2308179" cy="801186"/>
      </dsp:txXfrm>
    </dsp:sp>
    <dsp:sp modelId="{AE79172D-D441-42BB-84EA-E3D989670DED}">
      <dsp:nvSpPr>
        <dsp:cNvPr id="3" name="Rectangles 2"/>
        <dsp:cNvSpPr/>
      </dsp:nvSpPr>
      <dsp:spPr bwMode="white">
        <a:xfrm>
          <a:off x="2308179" y="189911"/>
          <a:ext cx="3815172" cy="1907586"/>
        </a:xfrm>
        <a:prstGeom prst="rect">
          <a:avLst/>
        </a:prstGeom>
      </dsp:spPr>
      <dsp:style>
        <a:lnRef idx="2">
          <a:schemeClr val="lt1"/>
        </a:lnRef>
        <a:fillRef idx="1">
          <a:schemeClr val="accent1"/>
        </a:fillRef>
        <a:effectRef idx="0">
          <a:scrgbClr r="0" g="0" b="0"/>
        </a:effectRef>
        <a:fontRef idx="minor">
          <a:schemeClr val="lt1"/>
        </a:fontRef>
      </dsp:style>
      <dsp:txBody>
        <a:bodyPr vert="horz" wrap="square" lIns="37465" tIns="37465" rIns="37465" bIns="37465" anchor="ctr"/>
        <a:lstStyle>
          <a:lvl1pPr algn="ctr">
            <a:defRPr sz="5900"/>
          </a:lvl1pPr>
          <a:lvl2pPr marL="285750" indent="-285750" algn="ctr">
            <a:defRPr sz="4600"/>
          </a:lvl2pPr>
          <a:lvl3pPr marL="571500" indent="-285750" algn="ctr">
            <a:defRPr sz="4600"/>
          </a:lvl3pPr>
          <a:lvl4pPr marL="857250" indent="-285750" algn="ctr">
            <a:defRPr sz="4600"/>
          </a:lvl4pPr>
          <a:lvl5pPr marL="1143000" indent="-285750" algn="ctr">
            <a:defRPr sz="4600"/>
          </a:lvl5pPr>
          <a:lvl6pPr marL="1428750" indent="-285750" algn="ctr">
            <a:defRPr sz="4600"/>
          </a:lvl6pPr>
          <a:lvl7pPr marL="1714500" indent="-285750" algn="ctr">
            <a:defRPr sz="4600"/>
          </a:lvl7pPr>
          <a:lvl8pPr marL="2000250" indent="-285750" algn="ctr">
            <a:defRPr sz="4600"/>
          </a:lvl8pPr>
          <a:lvl9pPr marL="2286000" indent="-285750" algn="ctr">
            <a:defRPr sz="4600"/>
          </a:lvl9pPr>
        </a:lstStyle>
        <a:p>
          <a:pPr lvl="0">
            <a:lnSpc>
              <a:spcPct val="100000"/>
            </a:lnSpc>
            <a:spcBef>
              <a:spcPct val="0"/>
            </a:spcBef>
            <a:spcAft>
              <a:spcPct val="35000"/>
            </a:spcAft>
          </a:pPr>
          <a:r>
            <a:rPr lang="en-US" altLang="en-US"/>
            <a:t>LLMs</a:t>
          </a:r>
          <a:endParaRPr lang="en-US" altLang="en-US"/>
        </a:p>
      </dsp:txBody>
      <dsp:txXfrm>
        <a:off x="2308179" y="189911"/>
        <a:ext cx="3815172" cy="1907586"/>
      </dsp:txXfrm>
    </dsp:sp>
    <dsp:sp modelId="{43B7C837-49D6-40CE-BBAB-953D9E4BA7ED}">
      <dsp:nvSpPr>
        <dsp:cNvPr id="6" name="Rectangles 5"/>
        <dsp:cNvSpPr/>
      </dsp:nvSpPr>
      <dsp:spPr bwMode="white">
        <a:xfrm>
          <a:off x="0" y="2898683"/>
          <a:ext cx="3815172" cy="1907586"/>
        </a:xfrm>
        <a:prstGeom prst="rect">
          <a:avLst/>
        </a:prstGeom>
      </dsp:spPr>
      <dsp:style>
        <a:lnRef idx="2">
          <a:schemeClr val="lt1"/>
        </a:lnRef>
        <a:fillRef idx="1">
          <a:schemeClr val="accent1"/>
        </a:fillRef>
        <a:effectRef idx="0">
          <a:scrgbClr r="0" g="0" b="0"/>
        </a:effectRef>
        <a:fontRef idx="minor">
          <a:schemeClr val="lt1"/>
        </a:fontRef>
      </dsp:style>
      <dsp:txBody>
        <a:bodyPr vert="horz" wrap="square" lIns="37465" tIns="37465" rIns="37465" bIns="37465" anchor="ctr"/>
        <a:lstStyle>
          <a:lvl1pPr algn="ctr">
            <a:defRPr sz="5900"/>
          </a:lvl1pPr>
          <a:lvl2pPr marL="285750" indent="-285750" algn="ctr">
            <a:defRPr sz="4600"/>
          </a:lvl2pPr>
          <a:lvl3pPr marL="571500" indent="-285750" algn="ctr">
            <a:defRPr sz="4600"/>
          </a:lvl3pPr>
          <a:lvl4pPr marL="857250" indent="-285750" algn="ctr">
            <a:defRPr sz="4600"/>
          </a:lvl4pPr>
          <a:lvl5pPr marL="1143000" indent="-285750" algn="ctr">
            <a:defRPr sz="4600"/>
          </a:lvl5pPr>
          <a:lvl6pPr marL="1428750" indent="-285750" algn="ctr">
            <a:defRPr sz="4600"/>
          </a:lvl6pPr>
          <a:lvl7pPr marL="1714500" indent="-285750" algn="ctr">
            <a:defRPr sz="4600"/>
          </a:lvl7pPr>
          <a:lvl8pPr marL="2000250" indent="-285750" algn="ctr">
            <a:defRPr sz="4600"/>
          </a:lvl8pPr>
          <a:lvl9pPr marL="2286000" indent="-285750" algn="ctr">
            <a:defRPr sz="4600"/>
          </a:lvl9pPr>
        </a:lstStyle>
        <a:p>
          <a:pPr lvl="0">
            <a:lnSpc>
              <a:spcPct val="100000"/>
            </a:lnSpc>
            <a:spcBef>
              <a:spcPct val="0"/>
            </a:spcBef>
            <a:spcAft>
              <a:spcPct val="35000"/>
            </a:spcAft>
          </a:pPr>
          <a:r>
            <a:rPr lang="en-US"/>
            <a:t>Base LLM</a:t>
          </a:r>
          <a:endParaRPr lang="en-US"/>
        </a:p>
      </dsp:txBody>
      <dsp:txXfrm>
        <a:off x="0" y="2898683"/>
        <a:ext cx="3815172" cy="1907586"/>
      </dsp:txXfrm>
    </dsp:sp>
    <dsp:sp modelId="{08A0D1D2-3A20-4D63-8E35-B7C8B6B16D48}">
      <dsp:nvSpPr>
        <dsp:cNvPr id="9" name="Rectangles 8"/>
        <dsp:cNvSpPr/>
      </dsp:nvSpPr>
      <dsp:spPr bwMode="white">
        <a:xfrm>
          <a:off x="4616358" y="2898683"/>
          <a:ext cx="3815172" cy="1907586"/>
        </a:xfrm>
        <a:prstGeom prst="rect">
          <a:avLst/>
        </a:prstGeom>
      </dsp:spPr>
      <dsp:style>
        <a:lnRef idx="2">
          <a:schemeClr val="lt1"/>
        </a:lnRef>
        <a:fillRef idx="1">
          <a:schemeClr val="accent1"/>
        </a:fillRef>
        <a:effectRef idx="0">
          <a:scrgbClr r="0" g="0" b="0"/>
        </a:effectRef>
        <a:fontRef idx="minor">
          <a:schemeClr val="lt1"/>
        </a:fontRef>
      </dsp:style>
      <dsp:txBody>
        <a:bodyPr vert="horz" wrap="square" lIns="37465" tIns="37465" rIns="37465" bIns="37465" anchor="ctr"/>
        <a:lstStyle>
          <a:lvl1pPr algn="ctr">
            <a:defRPr sz="5900"/>
          </a:lvl1pPr>
          <a:lvl2pPr marL="285750" indent="-285750" algn="ctr">
            <a:defRPr sz="4600"/>
          </a:lvl2pPr>
          <a:lvl3pPr marL="571500" indent="-285750" algn="ctr">
            <a:defRPr sz="4600"/>
          </a:lvl3pPr>
          <a:lvl4pPr marL="857250" indent="-285750" algn="ctr">
            <a:defRPr sz="4600"/>
          </a:lvl4pPr>
          <a:lvl5pPr marL="1143000" indent="-285750" algn="ctr">
            <a:defRPr sz="4600"/>
          </a:lvl5pPr>
          <a:lvl6pPr marL="1428750" indent="-285750" algn="ctr">
            <a:defRPr sz="4600"/>
          </a:lvl6pPr>
          <a:lvl7pPr marL="1714500" indent="-285750" algn="ctr">
            <a:defRPr sz="4600"/>
          </a:lvl7pPr>
          <a:lvl8pPr marL="2000250" indent="-285750" algn="ctr">
            <a:defRPr sz="4600"/>
          </a:lvl8pPr>
          <a:lvl9pPr marL="2286000" indent="-285750" algn="ctr">
            <a:defRPr sz="4600"/>
          </a:lvl9pPr>
        </a:lstStyle>
        <a:p>
          <a:pPr lvl="0">
            <a:lnSpc>
              <a:spcPct val="100000"/>
            </a:lnSpc>
            <a:spcBef>
              <a:spcPct val="0"/>
            </a:spcBef>
            <a:spcAft>
              <a:spcPct val="35000"/>
            </a:spcAft>
          </a:pPr>
          <a:r>
            <a:rPr lang="en-US"/>
            <a:t>Instruct </a:t>
          </a:r>
          <a:r>
            <a:rPr lang="en-US"/>
            <a:t>LLM</a:t>
          </a:r>
          <a:endParaRPr lang="en-US"/>
        </a:p>
      </dsp:txBody>
      <dsp:txXfrm>
        <a:off x="4616358" y="2898683"/>
        <a:ext cx="3815172" cy="1907586"/>
      </dsp:txXfrm>
    </dsp:sp>
    <dsp:sp modelId="{86420519-308D-4A6A-8FEA-6FB2E39BA448}">
      <dsp:nvSpPr>
        <dsp:cNvPr id="4" name="Rectangles 3" hidden="1"/>
        <dsp:cNvSpPr/>
      </dsp:nvSpPr>
      <dsp:spPr>
        <a:xfrm>
          <a:off x="2308179" y="189911"/>
          <a:ext cx="763034" cy="1907586"/>
        </a:xfrm>
        <a:prstGeom prst="rect">
          <a:avLst/>
        </a:prstGeom>
      </dsp:spPr>
      <dsp:txXfrm>
        <a:off x="2308179" y="189911"/>
        <a:ext cx="763034" cy="1907586"/>
      </dsp:txXfrm>
    </dsp:sp>
    <dsp:sp modelId="{9A037140-9B69-4B9F-A134-F2F2EB0F2E32}">
      <dsp:nvSpPr>
        <dsp:cNvPr id="7" name="Rectangles 6" hidden="1"/>
        <dsp:cNvSpPr/>
      </dsp:nvSpPr>
      <dsp:spPr>
        <a:xfrm>
          <a:off x="0" y="2898683"/>
          <a:ext cx="763034" cy="1907586"/>
        </a:xfrm>
        <a:prstGeom prst="rect">
          <a:avLst/>
        </a:prstGeom>
      </dsp:spPr>
      <dsp:txXfrm>
        <a:off x="0" y="2898683"/>
        <a:ext cx="763034" cy="1907586"/>
      </dsp:txXfrm>
    </dsp:sp>
    <dsp:sp modelId="{6238C53E-A961-488B-8FBD-6EC13507B069}">
      <dsp:nvSpPr>
        <dsp:cNvPr id="10" name="Rectangles 9" hidden="1"/>
        <dsp:cNvSpPr/>
      </dsp:nvSpPr>
      <dsp:spPr>
        <a:xfrm>
          <a:off x="4616358" y="2898683"/>
          <a:ext cx="763034" cy="1907586"/>
        </a:xfrm>
        <a:prstGeom prst="rect">
          <a:avLst/>
        </a:prstGeom>
      </dsp:spPr>
      <dsp:txXfrm>
        <a:off x="4616358" y="2898683"/>
        <a:ext cx="763034" cy="1907586"/>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rSet qsTypeId="urn:microsoft.com/office/officeart/2005/8/quickstyle/simple5"/>
        </dgm:pt>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linDir" val="fromT"/>
                  <dgm:param type="chAlign" val="r"/>
                </dgm:alg>
              </dgm:if>
              <dgm:if name="Name23" func="var" arg="hierBranch" op="equ" val="r">
                <dgm:alg type="hierChild">
                  <dgm:param type="linDir" val="fromT"/>
                  <dgm:param type="chAlign" val="l"/>
                </dgm:alg>
              </dgm:if>
              <dgm:if name="Name24" func="var" arg="hierBranch" op="equ" val="hang">
                <dgm:choose name="Name25">
                  <dgm:if name="Name26" func="var" arg="dir" op="equ" val="norm">
                    <dgm:alg type="hierChild">
                      <dgm:param type="linDir" val="fromL"/>
                      <dgm:param type="chAlign" val="l"/>
                      <dgm:param type="secLinDir" val="fromT"/>
                      <dgm:param type="secChAlign" val="t"/>
                    </dgm:alg>
                  </dgm:if>
                  <dgm:else name="Name27">
                    <dgm:alg type="hierChild">
                      <dgm:param type="linDir" val="fromR"/>
                      <dgm:param type="chAlign" val="l"/>
                      <dgm:param type="secLinDir" val="fromT"/>
                      <dgm:param type="secChAlign" val="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dim" val="1D"/>
                        <dgm:param type="endSty" val="noArr"/>
                        <dgm:param type="connRout" val="bend"/>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dim" val="1D"/>
                            <dgm:param type="endSty" val="noArr"/>
                            <dgm:param type="connRout" val="bend"/>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dim" val="1D"/>
                                    <dgm:param type="endSty" val="noArr"/>
                                    <dgm:param type="connRout" val="bend"/>
                                    <dgm:param type="begPts" val="bCtr"/>
                                    <dgm:param type="endPts" val="midL midR"/>
                                  </dgm:alg>
                                </dgm:if>
                                <dgm:else name="Name45">
                                  <dgm:alg type="conn">
                                    <dgm:param type="srcNode" val="rootConnector"/>
                                    <dgm:param type="dim" val="1D"/>
                                    <dgm:param type="endSty" val="noArr"/>
                                    <dgm:param type="connRout" val="bend"/>
                                    <dgm:param type="begPts" val="bCtr"/>
                                    <dgm:param type="endPts" val="midL midR"/>
                                  </dgm:alg>
                                </dgm:else>
                              </dgm:choose>
                            </dgm:if>
                            <dgm:else name="Name46">
                              <dgm:alg type="conn">
                                <dgm:param type="dim" val="1D"/>
                                <dgm:param type="endSty" val="noArr"/>
                                <dgm:param type="connRout" val="bend"/>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dim" val="1D"/>
                        <dgm:param type="endSty" val="noArr"/>
                        <dgm:param type="connRout" val="bend"/>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dim" val="1D"/>
                                <dgm:param type="endSty" val="noArr"/>
                                <dgm:param type="connRout" val="bend"/>
                                <dgm:param type="begPts" val="bCtr"/>
                                <dgm:param type="endPts" val="midL midR"/>
                              </dgm:alg>
                            </dgm:if>
                            <dgm:else name="Name55">
                              <dgm:alg type="conn">
                                <dgm:param type="srcNode" val="rootConnector1"/>
                                <dgm:param type="dim" val="1D"/>
                                <dgm:param type="endSty" val="noArr"/>
                                <dgm:param type="connRout" val="bend"/>
                                <dgm:param type="begPts" val="bCtr"/>
                                <dgm:param type="endPts" val="midL midR"/>
                              </dgm:alg>
                            </dgm:else>
                          </dgm:choose>
                        </dgm:if>
                        <dgm:else name="Name56">
                          <dgm:choose name="Name57">
                            <dgm:if name="Name58" axis="par ch" ptType="node asst" func="cnt" op="gte" val="1">
                              <dgm:alg type="conn">
                                <dgm:param type="dim" val="1D"/>
                                <dgm:param type="endSty" val="noArr"/>
                                <dgm:param type="connRout" val="bend"/>
                                <dgm:param type="begPts" val="bCtr"/>
                                <dgm:param type="endPts" val="midL midR"/>
                              </dgm:alg>
                            </dgm:if>
                            <dgm:else name="Name59">
                              <dgm:alg type="conn">
                                <dgm:param type="srcNode" val="rootConnector"/>
                                <dgm:param type="dim" val="1D"/>
                                <dgm:param type="endSty" val="noArr"/>
                                <dgm:param type="connRout" val="bend"/>
                                <dgm:param type="begPts" val="bCtr"/>
                                <dgm:param type="endPts" val="midL mid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linDir" val="fromT"/>
                        <dgm:param type="chAlign" val="r"/>
                      </dgm:alg>
                    </dgm:if>
                    <dgm:if name="Name85" func="var" arg="hierBranch" op="equ" val="r">
                      <dgm:alg type="hierChild">
                        <dgm:param type="linDir" val="fromT"/>
                        <dgm:param type="chAlign" val="l"/>
                      </dgm:alg>
                    </dgm:if>
                    <dgm:if name="Name86" func="var" arg="hierBranch" op="equ" val="hang">
                      <dgm:choose name="Name87">
                        <dgm:if name="Name88" func="var" arg="dir" op="equ" val="norm">
                          <dgm:alg type="hierChild">
                            <dgm:param type="linDir" val="fromL"/>
                            <dgm:param type="chAlign" val="l"/>
                            <dgm:param type="secLinDir" val="fromT"/>
                            <dgm:param type="secChAlign" val="t"/>
                          </dgm:alg>
                        </dgm:if>
                        <dgm:else name="Name89">
                          <dgm:alg type="hierChild">
                            <dgm:param type="linDir" val="fromR"/>
                            <dgm:param type="chAlign" val="l"/>
                            <dgm:param type="secLinDir" val="fromT"/>
                            <dgm:param type="secChAlign" val="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linDir" val="fromT"/>
                            <dgm:param type="chAlign" val="l"/>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linDir" val="fromL"/>
                        <dgm:param type="chAlign" val="l"/>
                        <dgm:param type="secLinDir" val="fromT"/>
                        <dgm:param type="secChAlign" val="t"/>
                      </dgm:alg>
                    </dgm:if>
                    <dgm:else name="Name105">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linDir" val="fromL"/>
                  <dgm:param type="chAlign" val="l"/>
                  <dgm:param type="secLinDir" val="fromT"/>
                  <dgm:param type="secChAlign" val="t"/>
                </dgm:alg>
              </dgm:if>
              <dgm:else name="Name109">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dim" val="1D"/>
                    <dgm:param type="endSty" val="noArr"/>
                    <dgm:param type="connRout" val="bend"/>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linDir" val="fromT"/>
                        <dgm:param type="chAlign" val="r"/>
                      </dgm:alg>
                    </dgm:if>
                    <dgm:if name="Name129" func="var" arg="hierBranch" op="equ" val="r">
                      <dgm:alg type="hierChild">
                        <dgm:param type="linDir" val="fromT"/>
                        <dgm:param type="chAlign" val="l"/>
                      </dgm:alg>
                    </dgm:if>
                    <dgm:if name="Name130" func="var" arg="hierBranch" op="equ" val="hang">
                      <dgm:choose name="Name131">
                        <dgm:if name="Name132" func="var" arg="dir" op="equ" val="norm">
                          <dgm:alg type="hierChild">
                            <dgm:param type="linDir" val="fromL"/>
                            <dgm:param type="chAlign" val="l"/>
                            <dgm:param type="secLinDir" val="fromT"/>
                            <dgm:param type="secChAlign" val="t"/>
                          </dgm:alg>
                        </dgm:if>
                        <dgm:else name="Name133">
                          <dgm:alg type="hierChild">
                            <dgm:param type="linDir" val="fromR"/>
                            <dgm:param type="chAlign" val="l"/>
                            <dgm:param type="secLinDir" val="fromT"/>
                            <dgm:param type="secChAlign" val="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linDir" val="fromT"/>
                            <dgm:param type="chAlign" val="l"/>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linDir" val="fromL"/>
                        <dgm:param type="chAlign" val="l"/>
                        <dgm:param type="secLinDir" val="fromT"/>
                        <dgm:param type="secChAlign" val="t"/>
                      </dgm:alg>
                    </dgm:if>
                    <dgm:else name="Name146">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2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563" name="Shape 563"/>
        <p:cNvGrpSpPr/>
        <p:nvPr/>
      </p:nvGrpSpPr>
      <p:grpSpPr>
        <a:xfrm>
          <a:off x="0" y="0"/>
          <a:ext cx="0" cy="0"/>
          <a:chOff x="0" y="0"/>
          <a:chExt cx="0" cy="0"/>
        </a:xfrm>
      </p:grpSpPr>
      <p:sp>
        <p:nvSpPr>
          <p:cNvPr id="564" name="Google Shape;564;g30abce0bbc2_0_922:notes"/>
          <p:cNvSpPr txBox="1"/>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565" name="Google Shape;565;g30abce0bbc2_0_92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3" Type="http://schemas.openxmlformats.org/officeDocument/2006/relationships/image" Target="../media/image7.webp"/><Relationship Id="rId2" Type="http://schemas.openxmlformats.org/officeDocument/2006/relationships/image" Target="../media/image6.png"/><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12.jpeg"/><Relationship Id="rId1" Type="http://schemas.openxmlformats.org/officeDocument/2006/relationships/image" Target="../media/image11.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12.xml.rels><?xml version="1.0" encoding="UTF-8" standalone="yes"?>
<Relationships xmlns="http://schemas.openxmlformats.org/package/2006/relationships"><Relationship Id="rId7" Type="http://schemas.openxmlformats.org/officeDocument/2006/relationships/vmlDrawing" Target="../drawings/vmlDrawing1.vml"/><Relationship Id="rId6" Type="http://schemas.openxmlformats.org/officeDocument/2006/relationships/slideLayout" Target="../slideLayouts/slideLayout2.xml"/><Relationship Id="rId5" Type="http://schemas.openxmlformats.org/officeDocument/2006/relationships/image" Target="../media/image21.emf"/><Relationship Id="rId4" Type="http://schemas.openxmlformats.org/officeDocument/2006/relationships/image" Target="../media/image20.wmf"/><Relationship Id="rId3" Type="http://schemas.openxmlformats.org/officeDocument/2006/relationships/oleObject" Target="../embeddings/oleObject1.bin"/><Relationship Id="rId2" Type="http://schemas.openxmlformats.org/officeDocument/2006/relationships/image" Target="../media/image19.png"/><Relationship Id="rId1" Type="http://schemas.openxmlformats.org/officeDocument/2006/relationships/image" Target="../media/image18.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7.jpeg"/><Relationship Id="rId2" Type="http://schemas.openxmlformats.org/officeDocument/2006/relationships/image" Target="../media/image26.png"/><Relationship Id="rId1" Type="http://schemas.openxmlformats.org/officeDocument/2006/relationships/image" Target="../media/image25.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2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jpe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8.png"/><Relationship Id="rId1" Type="http://schemas.openxmlformats.org/officeDocument/2006/relationships/image" Target="../media/image37.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0.png"/><Relationship Id="rId1" Type="http://schemas.openxmlformats.org/officeDocument/2006/relationships/image" Target="../media/image39.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1.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2.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43.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4.jpe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5.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7.jpe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8.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9.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0.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1.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2.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3.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4.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6.pn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7.png"/></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8.pn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9.pn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0.pn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1.png"/></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3.png"/><Relationship Id="rId1" Type="http://schemas.openxmlformats.org/officeDocument/2006/relationships/image" Target="../media/image62.png"/></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4.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5.png"/></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7.jpeg"/><Relationship Id="rId1" Type="http://schemas.openxmlformats.org/officeDocument/2006/relationships/image" Target="../media/image6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11580" y="191135"/>
            <a:ext cx="10151110" cy="1143000"/>
          </a:xfrm>
        </p:spPr>
        <p:txBody>
          <a:bodyPr/>
          <a:lstStyle/>
          <a:p>
            <a:r>
              <a:rPr lang="en-US" altLang="en-US" dirty="0"/>
              <a:t>NLP - Part 2: LLMs</a:t>
            </a:r>
            <a:endParaRPr lang="en-US" altLang="en-US" dirty="0"/>
          </a:p>
        </p:txBody>
      </p:sp>
      <p:sp>
        <p:nvSpPr>
          <p:cNvPr id="3" name="Subtitle 2"/>
          <p:cNvSpPr>
            <a:spLocks noGrp="1"/>
          </p:cNvSpPr>
          <p:nvPr>
            <p:ph type="subTitle" idx="1"/>
          </p:nvPr>
        </p:nvSpPr>
        <p:spPr>
          <a:xfrm>
            <a:off x="1524000" y="1180465"/>
            <a:ext cx="9144000" cy="588645"/>
          </a:xfrm>
        </p:spPr>
        <p:txBody>
          <a:bodyPr/>
          <a:lstStyle/>
          <a:p>
            <a:r>
              <a:rPr lang="en-US"/>
              <a:t>Motaz Saad</a:t>
            </a:r>
            <a:endParaRPr lang="en-US"/>
          </a:p>
        </p:txBody>
      </p:sp>
      <p:pic>
        <p:nvPicPr>
          <p:cNvPr id="118" name="Picture 117"/>
          <p:cNvPicPr/>
          <p:nvPr/>
        </p:nvPicPr>
        <p:blipFill>
          <a:blip r:embed="rId1"/>
          <a:stretch>
            <a:fillRect/>
          </a:stretch>
        </p:blipFill>
        <p:spPr>
          <a:xfrm>
            <a:off x="1456055" y="2082800"/>
            <a:ext cx="4503420" cy="4775200"/>
          </a:xfrm>
          <a:prstGeom prst="rect">
            <a:avLst/>
          </a:prstGeom>
          <a:noFill/>
          <a:ln w="9525">
            <a:noFill/>
          </a:ln>
        </p:spPr>
      </p:pic>
      <p:pic>
        <p:nvPicPr>
          <p:cNvPr id="119" name="Picture 118"/>
          <p:cNvPicPr/>
          <p:nvPr/>
        </p:nvPicPr>
        <p:blipFill>
          <a:blip r:embed="rId2"/>
          <a:stretch>
            <a:fillRect/>
          </a:stretch>
        </p:blipFill>
        <p:spPr>
          <a:xfrm>
            <a:off x="5959475" y="2082165"/>
            <a:ext cx="4935855" cy="4775835"/>
          </a:xfrm>
          <a:prstGeom prst="rect">
            <a:avLst/>
          </a:prstGeom>
          <a:noFill/>
          <a:ln w="9525">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Copyright Notice</a:t>
            </a:r>
            <a:endParaRPr lang="en-US"/>
          </a:p>
        </p:txBody>
      </p:sp>
      <p:sp>
        <p:nvSpPr>
          <p:cNvPr id="3" name="Content Placeholder 2"/>
          <p:cNvSpPr>
            <a:spLocks noGrp="1"/>
          </p:cNvSpPr>
          <p:nvPr>
            <p:ph idx="1"/>
          </p:nvPr>
        </p:nvSpPr>
        <p:spPr/>
        <p:txBody>
          <a:bodyPr>
            <a:normAutofit/>
          </a:bodyPr>
          <a:p>
            <a:pPr marL="0" indent="0">
              <a:buNone/>
            </a:pPr>
            <a:r>
              <a:rPr lang="en-US"/>
              <a:t>These slides are distributed for educational purpose under the Creative Commons License. </a:t>
            </a:r>
            <a:r>
              <a:rPr lang="en-US" sz="2000">
                <a:sym typeface="+mn-ea"/>
              </a:rPr>
              <a:t>https://creativecommons.org/licenses/by-sa/2.0/legalcode</a:t>
            </a:r>
            <a:endParaRPr lang="en-US" sz="2000"/>
          </a:p>
          <a:p>
            <a:pPr marL="0" indent="0">
              <a:buNone/>
            </a:pPr>
            <a:endParaRPr lang="en-US"/>
          </a:p>
          <a:p>
            <a:pPr marL="0" indent="0">
              <a:buNone/>
            </a:pPr>
            <a:r>
              <a:rPr lang="en-US"/>
              <a:t>Source of Slides: </a:t>
            </a:r>
            <a:endParaRPr lang="en-US"/>
          </a:p>
          <a:p>
            <a:r>
              <a:rPr lang="en-US">
                <a:sym typeface="+mn-ea"/>
              </a:rPr>
              <a:t>DeepLearning.AI as the source of the slides.</a:t>
            </a:r>
            <a:endParaRPr lang="en-US"/>
          </a:p>
          <a:p>
            <a:r>
              <a:rPr lang="en-US"/>
              <a:t>Generative AI :) </a:t>
            </a:r>
            <a:endParaRPr lang="en-US"/>
          </a:p>
          <a:p>
            <a:r>
              <a:rPr lang="en-US"/>
              <a:t>Harvard Teaching and Learning Consortium </a:t>
            </a:r>
            <a:endParaRPr lang="en-US"/>
          </a:p>
          <a:p>
            <a:endParaRPr lang="en-US"/>
          </a:p>
          <a:p>
            <a:pPr marL="0" indent="0">
              <a:buNone/>
            </a:pPr>
            <a:endParaRPr lang="en-US"/>
          </a:p>
        </p:txBody>
      </p:sp>
      <p:pic>
        <p:nvPicPr>
          <p:cNvPr id="4" name="Picture 3"/>
          <p:cNvPicPr>
            <a:picLocks noChangeAspect="1"/>
          </p:cNvPicPr>
          <p:nvPr/>
        </p:nvPicPr>
        <p:blipFill>
          <a:blip r:embed="rId1"/>
          <a:stretch>
            <a:fillRect/>
          </a:stretch>
        </p:blipFill>
        <p:spPr>
          <a:xfrm>
            <a:off x="7889875" y="519430"/>
            <a:ext cx="3895725" cy="552450"/>
          </a:xfrm>
          <a:prstGeom prst="rect">
            <a:avLst/>
          </a:prstGeom>
        </p:spPr>
      </p:pic>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What is generative AI?</a:t>
            </a:r>
            <a:endParaRPr lang="en-US"/>
          </a:p>
        </p:txBody>
      </p:sp>
      <p:sp>
        <p:nvSpPr>
          <p:cNvPr id="5" name="Content Placeholder 4"/>
          <p:cNvSpPr>
            <a:spLocks noGrp="1"/>
          </p:cNvSpPr>
          <p:nvPr>
            <p:ph idx="1"/>
          </p:nvPr>
        </p:nvSpPr>
        <p:spPr>
          <a:xfrm>
            <a:off x="838200" y="1825625"/>
            <a:ext cx="5935345" cy="4351655"/>
          </a:xfrm>
        </p:spPr>
        <p:txBody>
          <a:bodyPr/>
          <a:p>
            <a:r>
              <a:rPr lang="en-US"/>
              <a:t>Gen AI is an Artificial intelligence systems that can produce high quality content, specifically text, images, and audio.</a:t>
            </a:r>
            <a:endParaRPr lang="en-US"/>
          </a:p>
        </p:txBody>
      </p:sp>
      <p:pic>
        <p:nvPicPr>
          <p:cNvPr id="6" name="Picture 5"/>
          <p:cNvPicPr>
            <a:picLocks noChangeAspect="1"/>
          </p:cNvPicPr>
          <p:nvPr/>
        </p:nvPicPr>
        <p:blipFill>
          <a:blip r:embed="rId1"/>
          <a:stretch>
            <a:fillRect/>
          </a:stretch>
        </p:blipFill>
        <p:spPr>
          <a:xfrm>
            <a:off x="6773545" y="1130300"/>
            <a:ext cx="5201285" cy="4954905"/>
          </a:xfrm>
          <a:prstGeom prst="rect">
            <a:avLst/>
          </a:prstGeom>
        </p:spPr>
      </p:pic>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Gen AI Tools for end users (mobile App)</a:t>
            </a:r>
            <a:endParaRPr lang="en-US"/>
          </a:p>
        </p:txBody>
      </p:sp>
      <p:pic>
        <p:nvPicPr>
          <p:cNvPr id="100" name="Picture 99"/>
          <p:cNvPicPr/>
          <p:nvPr/>
        </p:nvPicPr>
        <p:blipFill>
          <a:blip r:embed="rId1"/>
          <a:srcRect l="19095" t="5315" r="13581" b="4009"/>
          <a:stretch>
            <a:fillRect/>
          </a:stretch>
        </p:blipFill>
        <p:spPr>
          <a:xfrm>
            <a:off x="302260" y="1406525"/>
            <a:ext cx="4273550" cy="4693285"/>
          </a:xfrm>
          <a:prstGeom prst="rect">
            <a:avLst/>
          </a:prstGeom>
          <a:noFill/>
          <a:ln w="9525">
            <a:noFill/>
          </a:ln>
        </p:spPr>
      </p:pic>
      <p:pic>
        <p:nvPicPr>
          <p:cNvPr id="101" name="Picture 100"/>
          <p:cNvPicPr/>
          <p:nvPr/>
        </p:nvPicPr>
        <p:blipFill>
          <a:blip r:embed="rId2"/>
          <a:stretch>
            <a:fillRect/>
          </a:stretch>
        </p:blipFill>
        <p:spPr>
          <a:xfrm>
            <a:off x="2097405" y="6065520"/>
            <a:ext cx="682625" cy="792480"/>
          </a:xfrm>
          <a:prstGeom prst="rect">
            <a:avLst/>
          </a:prstGeom>
          <a:noFill/>
          <a:ln w="9525">
            <a:noFill/>
          </a:ln>
        </p:spPr>
      </p:pic>
      <p:pic>
        <p:nvPicPr>
          <p:cNvPr id="102" name="Picture 101"/>
          <p:cNvPicPr/>
          <p:nvPr/>
        </p:nvPicPr>
        <p:blipFill>
          <a:blip r:embed="rId3"/>
          <a:srcRect l="12109" t="28954" r="9469" b="32082"/>
          <a:stretch>
            <a:fillRect/>
          </a:stretch>
        </p:blipFill>
        <p:spPr>
          <a:xfrm>
            <a:off x="4911725" y="5278120"/>
            <a:ext cx="3549015" cy="1493520"/>
          </a:xfrm>
          <a:prstGeom prst="rect">
            <a:avLst/>
          </a:prstGeom>
          <a:noFill/>
          <a:ln w="9525">
            <a:noFill/>
          </a:ln>
        </p:spPr>
      </p:pic>
      <p:pic>
        <p:nvPicPr>
          <p:cNvPr id="4" name="Picture 3"/>
          <p:cNvPicPr>
            <a:picLocks noChangeAspect="1"/>
          </p:cNvPicPr>
          <p:nvPr/>
        </p:nvPicPr>
        <p:blipFill>
          <a:blip r:embed="rId4"/>
          <a:stretch>
            <a:fillRect/>
          </a:stretch>
        </p:blipFill>
        <p:spPr>
          <a:xfrm>
            <a:off x="4911725" y="1513840"/>
            <a:ext cx="3158490" cy="3970655"/>
          </a:xfrm>
          <a:prstGeom prst="rect">
            <a:avLst/>
          </a:prstGeom>
        </p:spPr>
      </p:pic>
      <p:pic>
        <p:nvPicPr>
          <p:cNvPr id="103" name="Picture 102"/>
          <p:cNvPicPr/>
          <p:nvPr/>
        </p:nvPicPr>
        <p:blipFill>
          <a:blip r:embed="rId5"/>
          <a:stretch>
            <a:fillRect/>
          </a:stretch>
        </p:blipFill>
        <p:spPr>
          <a:xfrm>
            <a:off x="9450070" y="1065530"/>
            <a:ext cx="2645410" cy="5135880"/>
          </a:xfrm>
          <a:prstGeom prst="rect">
            <a:avLst/>
          </a:prstGeom>
          <a:noFill/>
          <a:ln w="9525">
            <a:noFill/>
          </a:ln>
        </p:spPr>
      </p:pic>
      <p:pic>
        <p:nvPicPr>
          <p:cNvPr id="104" name="Picture 103"/>
          <p:cNvPicPr/>
          <p:nvPr/>
        </p:nvPicPr>
        <p:blipFill>
          <a:blip r:embed="rId6"/>
          <a:stretch>
            <a:fillRect/>
          </a:stretch>
        </p:blipFill>
        <p:spPr>
          <a:xfrm>
            <a:off x="9356725" y="6049645"/>
            <a:ext cx="2192020" cy="808355"/>
          </a:xfrm>
          <a:prstGeom prst="rect">
            <a:avLst/>
          </a:prstGeom>
          <a:noFill/>
          <a:ln w="9525">
            <a:noFill/>
          </a:ln>
        </p:spPr>
      </p:pic>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566" name="Shape 566"/>
        <p:cNvGrpSpPr/>
        <p:nvPr/>
      </p:nvGrpSpPr>
      <p:grpSpPr>
        <a:xfrm>
          <a:off x="0" y="0"/>
          <a:ext cx="0" cy="0"/>
          <a:chOff x="0" y="0"/>
          <a:chExt cx="0" cy="0"/>
        </a:xfrm>
      </p:grpSpPr>
      <p:sp>
        <p:nvSpPr>
          <p:cNvPr id="567" name="Google Shape;567;p77"/>
          <p:cNvSpPr txBox="1"/>
          <p:nvPr>
            <p:ph type="title"/>
          </p:nvPr>
        </p:nvSpPr>
        <p:spPr>
          <a:xfrm>
            <a:off x="628651" y="273844"/>
            <a:ext cx="7886800" cy="994400"/>
          </a:xfrm>
          <a:prstGeom prst="rect">
            <a:avLst/>
          </a:prstGeom>
          <a:noFill/>
          <a:ln>
            <a:noFill/>
          </a:ln>
        </p:spPr>
        <p:txBody>
          <a:bodyPr spcFirstLastPara="1" wrap="square" lIns="91433" tIns="45700" rIns="91433" bIns="45700" anchor="ctr" anchorCtr="0">
            <a:normAutofit/>
          </a:bodyPr>
          <a:lstStyle/>
          <a:p>
            <a:pPr marL="0" lvl="0" indent="0" algn="ctr" rtl="0">
              <a:lnSpc>
                <a:spcPct val="90000"/>
              </a:lnSpc>
              <a:spcBef>
                <a:spcPts val="0"/>
              </a:spcBef>
              <a:spcAft>
                <a:spcPts val="0"/>
              </a:spcAft>
              <a:buClr>
                <a:schemeClr val="dk1"/>
              </a:buClr>
              <a:buSzPts val="3300"/>
              <a:buFont typeface="Calibri" panose="020F0502020204030204"/>
              <a:buNone/>
            </a:pPr>
            <a:r>
              <a:rPr lang="en-US" altLang="en-GB"/>
              <a:t>Processors </a:t>
            </a:r>
            <a:r>
              <a:rPr lang="en-GB"/>
              <a:t>with Neural Engine</a:t>
            </a:r>
            <a:endParaRPr lang="en-GB"/>
          </a:p>
        </p:txBody>
      </p:sp>
      <p:pic>
        <p:nvPicPr>
          <p:cNvPr id="568" name="Google Shape;568;p77" descr="google-whitechapel-GS101-chipset-everything-you-need-to-know"/>
          <p:cNvPicPr preferRelativeResize="0"/>
          <p:nvPr/>
        </p:nvPicPr>
        <p:blipFill rotWithShape="1">
          <a:blip r:embed="rId1"/>
          <a:srcRect/>
          <a:stretch>
            <a:fillRect/>
          </a:stretch>
        </p:blipFill>
        <p:spPr>
          <a:xfrm>
            <a:off x="1015999" y="1905000"/>
            <a:ext cx="4682837" cy="3121892"/>
          </a:xfrm>
          <a:prstGeom prst="rect">
            <a:avLst/>
          </a:prstGeom>
          <a:noFill/>
          <a:ln>
            <a:noFill/>
          </a:ln>
        </p:spPr>
      </p:pic>
      <p:pic>
        <p:nvPicPr>
          <p:cNvPr id="569" name="Google Shape;569;p77"/>
          <p:cNvPicPr preferRelativeResize="0"/>
          <p:nvPr/>
        </p:nvPicPr>
        <p:blipFill rotWithShape="1">
          <a:blip r:embed="rId2"/>
          <a:srcRect/>
          <a:stretch>
            <a:fillRect/>
          </a:stretch>
        </p:blipFill>
        <p:spPr>
          <a:xfrm>
            <a:off x="6807200" y="1905000"/>
            <a:ext cx="3302000" cy="3121892"/>
          </a:xfrm>
          <a:prstGeom prst="rect">
            <a:avLst/>
          </a:prstGeom>
          <a:noFill/>
          <a:ln>
            <a:noFill/>
          </a:ln>
        </p:spPr>
      </p:pic>
      <p:sp>
        <p:nvSpPr>
          <p:cNvPr id="570" name="Google Shape;570;p77"/>
          <p:cNvSpPr txBox="1"/>
          <p:nvPr>
            <p:ph type="sldNum" idx="12"/>
          </p:nvPr>
        </p:nvSpPr>
        <p:spPr>
          <a:xfrm>
            <a:off x="6457951" y="4767263"/>
            <a:ext cx="2057600" cy="274000"/>
          </a:xfrm>
          <a:prstGeom prst="rect">
            <a:avLst/>
          </a:prstGeom>
          <a:noFill/>
          <a:ln>
            <a:noFill/>
          </a:ln>
        </p:spPr>
        <p:txBody>
          <a:bodyPr spcFirstLastPara="1" wrap="square" lIns="91433" tIns="45700" rIns="91433" bIns="45700" anchor="ctr" anchorCtr="0">
            <a:normAutofit fontScale="70000"/>
          </a:bodyPr>
          <a:lstStyle/>
          <a:p>
            <a:pPr marL="0" lvl="0" indent="0" algn="r" rtl="0">
              <a:spcBef>
                <a:spcPts val="0"/>
              </a:spcBef>
              <a:spcAft>
                <a:spcPts val="0"/>
              </a:spcAft>
              <a:buClr>
                <a:srgbClr val="000000"/>
              </a:buClr>
              <a:buFont typeface="Arial" panose="020B0604020202020204"/>
              <a:buNone/>
            </a:pPr>
            <a:fld id="{00000000-1234-1234-1234-123412341234}" type="slidenum">
              <a:rPr lang="en-GB" sz="1600"/>
            </a:fld>
            <a:endParaRPr lang="en-GB" sz="16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Gen AI Tools for end users (Copilot Web App)</a:t>
            </a:r>
            <a:endParaRPr lang="en-US"/>
          </a:p>
        </p:txBody>
      </p:sp>
      <p:pic>
        <p:nvPicPr>
          <p:cNvPr id="3" name="Picture 2"/>
          <p:cNvPicPr>
            <a:picLocks noChangeAspect="1"/>
          </p:cNvPicPr>
          <p:nvPr/>
        </p:nvPicPr>
        <p:blipFill>
          <a:blip r:embed="rId1"/>
          <a:stretch>
            <a:fillRect/>
          </a:stretch>
        </p:blipFill>
        <p:spPr>
          <a:xfrm>
            <a:off x="501650" y="1425575"/>
            <a:ext cx="10852150" cy="5227320"/>
          </a:xfrm>
          <a:prstGeom prst="rect">
            <a:avLst/>
          </a:prstGeom>
        </p:spPr>
      </p:pic>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Generative AI is also a developer tool</a:t>
            </a:r>
            <a:endParaRPr lang="en-US"/>
          </a:p>
        </p:txBody>
      </p:sp>
      <p:pic>
        <p:nvPicPr>
          <p:cNvPr id="4" name="Content Placeholder 3"/>
          <p:cNvPicPr>
            <a:picLocks noChangeAspect="1"/>
          </p:cNvPicPr>
          <p:nvPr>
            <p:ph idx="1"/>
          </p:nvPr>
        </p:nvPicPr>
        <p:blipFill>
          <a:blip r:embed="rId1"/>
          <a:stretch>
            <a:fillRect/>
          </a:stretch>
        </p:blipFill>
        <p:spPr>
          <a:xfrm>
            <a:off x="938530" y="1884045"/>
            <a:ext cx="9688195" cy="4526280"/>
          </a:xfrm>
          <a:prstGeom prst="rect">
            <a:avLst/>
          </a:prstGeom>
        </p:spPr>
      </p:pic>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r>
              <a:rPr lang="en-US"/>
              <a:t>How generative AI works</a:t>
            </a:r>
            <a:endParaRPr lang="en-US"/>
          </a:p>
        </p:txBody>
      </p:sp>
      <p:sp>
        <p:nvSpPr>
          <p:cNvPr id="3" name="Content Placeholder 2"/>
          <p:cNvSpPr>
            <a:spLocks noGrp="1"/>
          </p:cNvSpPr>
          <p:nvPr>
            <p:ph idx="1"/>
          </p:nvPr>
        </p:nvSpPr>
        <p:spPr>
          <a:xfrm>
            <a:off x="838200" y="1825625"/>
            <a:ext cx="2965450" cy="4351655"/>
          </a:xfrm>
        </p:spPr>
        <p:txBody>
          <a:bodyPr/>
          <a:p>
            <a:r>
              <a:rPr lang="en-US"/>
              <a:t>AI is a set of tools </a:t>
            </a:r>
            <a:endParaRPr lang="en-US"/>
          </a:p>
        </p:txBody>
      </p:sp>
      <p:pic>
        <p:nvPicPr>
          <p:cNvPr id="4" name="Picture 3"/>
          <p:cNvPicPr>
            <a:picLocks noChangeAspect="1"/>
          </p:cNvPicPr>
          <p:nvPr/>
        </p:nvPicPr>
        <p:blipFill>
          <a:blip r:embed="rId1"/>
          <a:stretch>
            <a:fillRect/>
          </a:stretch>
        </p:blipFill>
        <p:spPr>
          <a:xfrm>
            <a:off x="5014595" y="949960"/>
            <a:ext cx="7177405" cy="5788660"/>
          </a:xfrm>
          <a:prstGeom prst="rect">
            <a:avLst/>
          </a:prstGeom>
        </p:spPr>
      </p:pic>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Supervised learning (labeling things)</a:t>
            </a:r>
            <a:endParaRPr lang="en-US"/>
          </a:p>
        </p:txBody>
      </p:sp>
      <p:pic>
        <p:nvPicPr>
          <p:cNvPr id="4" name="Picture 3"/>
          <p:cNvPicPr>
            <a:picLocks noChangeAspect="1"/>
          </p:cNvPicPr>
          <p:nvPr/>
        </p:nvPicPr>
        <p:blipFill>
          <a:blip r:embed="rId1"/>
          <a:stretch>
            <a:fillRect/>
          </a:stretch>
        </p:blipFill>
        <p:spPr>
          <a:xfrm>
            <a:off x="2750820" y="2377440"/>
            <a:ext cx="6690360" cy="2103120"/>
          </a:xfrm>
          <a:prstGeom prst="rect">
            <a:avLst/>
          </a:prstGeom>
        </p:spPr>
      </p:pic>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Supervised learning (labeling things)</a:t>
            </a:r>
            <a:endParaRPr lang="en-US"/>
          </a:p>
        </p:txBody>
      </p:sp>
      <p:graphicFrame>
        <p:nvGraphicFramePr>
          <p:cNvPr id="4" name="Content Placeholder 3"/>
          <p:cNvGraphicFramePr/>
          <p:nvPr>
            <p:ph idx="1"/>
          </p:nvPr>
        </p:nvGraphicFramePr>
        <p:xfrm>
          <a:off x="838200" y="1825625"/>
          <a:ext cx="10220325" cy="4175760"/>
        </p:xfrm>
        <a:graphic>
          <a:graphicData uri="http://schemas.openxmlformats.org/drawingml/2006/table">
            <a:tbl>
              <a:tblPr firstRow="1" bandRow="1">
                <a:tableStyleId>{5C22544A-7EE6-4342-B048-85BDC9FD1C3A}</a:tableStyleId>
              </a:tblPr>
              <a:tblGrid>
                <a:gridCol w="2649220"/>
                <a:gridCol w="3521710"/>
                <a:gridCol w="4049395"/>
              </a:tblGrid>
              <a:tr h="401320">
                <a:tc>
                  <a:txBody>
                    <a:bodyPr/>
                    <a:p>
                      <a:pPr>
                        <a:buNone/>
                      </a:pPr>
                      <a:r>
                        <a:rPr lang="en-US" sz="2400"/>
                        <a:t>Input (A) ) </a:t>
                      </a:r>
                      <a:endParaRPr lang="en-US" sz="2400"/>
                    </a:p>
                  </a:txBody>
                  <a:tcPr/>
                </a:tc>
                <a:tc>
                  <a:txBody>
                    <a:bodyPr/>
                    <a:p>
                      <a:pPr>
                        <a:buNone/>
                      </a:pPr>
                      <a:r>
                        <a:rPr lang="en-US" sz="2400">
                          <a:sym typeface="+mn-ea"/>
                        </a:rPr>
                        <a:t>Output (B</a:t>
                      </a:r>
                      <a:endParaRPr lang="en-US" sz="2400">
                        <a:sym typeface="+mn-ea"/>
                      </a:endParaRPr>
                    </a:p>
                  </a:txBody>
                  <a:tcPr/>
                </a:tc>
                <a:tc>
                  <a:txBody>
                    <a:bodyPr/>
                    <a:p>
                      <a:pPr>
                        <a:buNone/>
                      </a:pPr>
                      <a:r>
                        <a:rPr lang="en-US" sz="2400">
                          <a:sym typeface="+mn-ea"/>
                        </a:rPr>
                        <a:t>Application</a:t>
                      </a:r>
                      <a:endParaRPr lang="en-US" sz="2400">
                        <a:sym typeface="+mn-ea"/>
                      </a:endParaRPr>
                    </a:p>
                  </a:txBody>
                  <a:tcPr/>
                </a:tc>
              </a:tr>
              <a:tr h="675005">
                <a:tc>
                  <a:txBody>
                    <a:bodyPr/>
                    <a:p>
                      <a:pPr>
                        <a:buNone/>
                      </a:pPr>
                      <a:r>
                        <a:rPr lang="en-US" sz="2400"/>
                        <a:t>Email</a:t>
                      </a:r>
                      <a:endParaRPr lang="en-US" sz="2400"/>
                    </a:p>
                  </a:txBody>
                  <a:tcPr/>
                </a:tc>
                <a:tc>
                  <a:txBody>
                    <a:bodyPr/>
                    <a:p>
                      <a:pPr>
                        <a:buNone/>
                      </a:pPr>
                      <a:r>
                        <a:rPr lang="en-US" sz="2400"/>
                        <a:t>Spam? (0/1)</a:t>
                      </a:r>
                      <a:endParaRPr lang="en-US" sz="2400"/>
                    </a:p>
                  </a:txBody>
                  <a:tcPr/>
                </a:tc>
                <a:tc>
                  <a:txBody>
                    <a:bodyPr/>
                    <a:p>
                      <a:pPr>
                        <a:buNone/>
                      </a:pPr>
                      <a:r>
                        <a:rPr lang="en-US" sz="2400"/>
                        <a:t>Spam filtering</a:t>
                      </a:r>
                      <a:endParaRPr lang="en-US" sz="2400"/>
                    </a:p>
                  </a:txBody>
                  <a:tcPr/>
                </a:tc>
              </a:tr>
              <a:tr h="674370">
                <a:tc>
                  <a:txBody>
                    <a:bodyPr/>
                    <a:p>
                      <a:pPr>
                        <a:buNone/>
                      </a:pPr>
                      <a:r>
                        <a:rPr lang="en-US" sz="2400"/>
                        <a:t>Ad, user info</a:t>
                      </a:r>
                      <a:endParaRPr lang="en-US" sz="2400"/>
                    </a:p>
                  </a:txBody>
                  <a:tcPr/>
                </a:tc>
                <a:tc>
                  <a:txBody>
                    <a:bodyPr/>
                    <a:p>
                      <a:pPr>
                        <a:buNone/>
                      </a:pPr>
                      <a:r>
                        <a:rPr lang="en-US" sz="2400"/>
                        <a:t>Click? (0/1)</a:t>
                      </a:r>
                      <a:endParaRPr lang="en-US" sz="2400"/>
                    </a:p>
                  </a:txBody>
                  <a:tcPr/>
                </a:tc>
                <a:tc>
                  <a:txBody>
                    <a:bodyPr/>
                    <a:p>
                      <a:pPr>
                        <a:buNone/>
                      </a:pPr>
                      <a:r>
                        <a:rPr lang="en-US" sz="2400"/>
                        <a:t>Online advertising</a:t>
                      </a:r>
                      <a:endParaRPr lang="en-US" sz="2400"/>
                    </a:p>
                  </a:txBody>
                  <a:tcPr/>
                </a:tc>
              </a:tr>
              <a:tr h="401320">
                <a:tc>
                  <a:txBody>
                    <a:bodyPr/>
                    <a:p>
                      <a:pPr>
                        <a:buNone/>
                      </a:pPr>
                      <a:r>
                        <a:rPr lang="en-US" sz="2400"/>
                        <a:t>X-ray image </a:t>
                      </a:r>
                      <a:endParaRPr lang="en-US" sz="2400"/>
                    </a:p>
                  </a:txBody>
                  <a:tcPr/>
                </a:tc>
                <a:tc>
                  <a:txBody>
                    <a:bodyPr/>
                    <a:p>
                      <a:pPr>
                        <a:buNone/>
                      </a:pPr>
                      <a:r>
                        <a:rPr lang="en-US" sz="2400"/>
                        <a:t>Diagnosis</a:t>
                      </a:r>
                      <a:endParaRPr lang="en-US" sz="2400"/>
                    </a:p>
                  </a:txBody>
                  <a:tcPr/>
                </a:tc>
                <a:tc>
                  <a:txBody>
                    <a:bodyPr/>
                    <a:p>
                      <a:pPr>
                        <a:buNone/>
                      </a:pPr>
                      <a:r>
                        <a:rPr lang="en-US" sz="2400"/>
                        <a:t>Health-care</a:t>
                      </a:r>
                      <a:endParaRPr lang="en-US" sz="2400"/>
                    </a:p>
                  </a:txBody>
                  <a:tcPr/>
                </a:tc>
              </a:tr>
              <a:tr h="674370">
                <a:tc>
                  <a:txBody>
                    <a:bodyPr/>
                    <a:p>
                      <a:pPr>
                        <a:buNone/>
                      </a:pPr>
                      <a:r>
                        <a:rPr lang="en-US" sz="2400"/>
                        <a:t>Image of phone</a:t>
                      </a:r>
                      <a:endParaRPr lang="en-US" sz="2400"/>
                    </a:p>
                  </a:txBody>
                  <a:tcPr/>
                </a:tc>
                <a:tc>
                  <a:txBody>
                    <a:bodyPr/>
                    <a:p>
                      <a:pPr>
                        <a:buNone/>
                      </a:pPr>
                      <a:r>
                        <a:rPr lang="en-US" sz="2400"/>
                        <a:t>Defect? (0/1)</a:t>
                      </a:r>
                      <a:endParaRPr lang="en-US" sz="2400"/>
                    </a:p>
                  </a:txBody>
                  <a:tcPr/>
                </a:tc>
                <a:tc>
                  <a:txBody>
                    <a:bodyPr/>
                    <a:p>
                      <a:pPr>
                        <a:buNone/>
                      </a:pPr>
                      <a:r>
                        <a:rPr lang="en-US" sz="2400"/>
                        <a:t>Visual inspection</a:t>
                      </a:r>
                      <a:endParaRPr lang="en-US" sz="2400"/>
                    </a:p>
                  </a:txBody>
                  <a:tcPr/>
                </a:tc>
              </a:tr>
              <a:tr h="675005">
                <a:tc>
                  <a:txBody>
                    <a:bodyPr/>
                    <a:p>
                      <a:pPr>
                        <a:buNone/>
                      </a:pPr>
                      <a:r>
                        <a:rPr lang="en-US" sz="2400"/>
                        <a:t>Audio recording</a:t>
                      </a:r>
                      <a:endParaRPr lang="en-US" sz="2400"/>
                    </a:p>
                  </a:txBody>
                  <a:tcPr/>
                </a:tc>
                <a:tc>
                  <a:txBody>
                    <a:bodyPr/>
                    <a:p>
                      <a:pPr>
                        <a:buNone/>
                      </a:pPr>
                      <a:r>
                        <a:rPr lang="en-US" sz="2400"/>
                        <a:t>Text transcript</a:t>
                      </a:r>
                      <a:endParaRPr lang="en-US" sz="2400"/>
                    </a:p>
                  </a:txBody>
                  <a:tcPr/>
                </a:tc>
                <a:tc>
                  <a:txBody>
                    <a:bodyPr/>
                    <a:p>
                      <a:pPr>
                        <a:buNone/>
                      </a:pPr>
                      <a:r>
                        <a:rPr lang="en-US" sz="2400"/>
                        <a:t>Speech recognition</a:t>
                      </a:r>
                      <a:endParaRPr lang="en-US" sz="2400"/>
                    </a:p>
                  </a:txBody>
                  <a:tcPr/>
                </a:tc>
              </a:tr>
              <a:tr h="674370">
                <a:tc>
                  <a:txBody>
                    <a:bodyPr/>
                    <a:p>
                      <a:pPr>
                        <a:buNone/>
                      </a:pPr>
                      <a:r>
                        <a:rPr lang="en-US" sz="2400"/>
                        <a:t>Restaurant reviews</a:t>
                      </a:r>
                      <a:endParaRPr lang="en-US" sz="2400"/>
                    </a:p>
                  </a:txBody>
                  <a:tcPr/>
                </a:tc>
                <a:tc>
                  <a:txBody>
                    <a:bodyPr/>
                    <a:p>
                      <a:pPr>
                        <a:buNone/>
                      </a:pPr>
                      <a:r>
                        <a:rPr lang="en-US" sz="2400"/>
                        <a:t>Sentiment (+/-)</a:t>
                      </a:r>
                      <a:endParaRPr lang="en-US" sz="2400"/>
                    </a:p>
                  </a:txBody>
                  <a:tcPr/>
                </a:tc>
                <a:tc>
                  <a:txBody>
                    <a:bodyPr/>
                    <a:p>
                      <a:pPr>
                        <a:buNone/>
                      </a:pPr>
                      <a:r>
                        <a:rPr lang="en-US" sz="2400"/>
                        <a:t>Reputation monitoring</a:t>
                      </a:r>
                      <a:endParaRPr lang="en-US" sz="2400"/>
                    </a:p>
                  </a:txBody>
                  <a:tcPr/>
                </a:tc>
              </a:tr>
            </a:tbl>
          </a:graphicData>
        </a:graphic>
      </p:graphicFrame>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How LLMs work?</a:t>
            </a:r>
            <a:endParaRPr lang="en-US"/>
          </a:p>
        </p:txBody>
      </p:sp>
      <p:sp>
        <p:nvSpPr>
          <p:cNvPr id="3" name="Content Placeholder 2"/>
          <p:cNvSpPr>
            <a:spLocks noGrp="1"/>
          </p:cNvSpPr>
          <p:nvPr>
            <p:ph idx="1"/>
          </p:nvPr>
        </p:nvSpPr>
        <p:spPr>
          <a:xfrm>
            <a:off x="838200" y="1470025"/>
            <a:ext cx="10515600" cy="4707255"/>
          </a:xfrm>
        </p:spPr>
        <p:txBody>
          <a:bodyPr/>
          <a:p>
            <a:r>
              <a:rPr lang="en-US"/>
              <a:t>LLMs are built by using supervised learning (A→B) to </a:t>
            </a:r>
            <a:r>
              <a:rPr lang="en-US" b="1"/>
              <a:t>repeatedly </a:t>
            </a:r>
            <a:r>
              <a:rPr lang="en-US"/>
              <a:t>predict the next word. </a:t>
            </a:r>
            <a:endParaRPr lang="en-US"/>
          </a:p>
          <a:p>
            <a:pPr marL="0" indent="0">
              <a:buNone/>
            </a:pPr>
            <a:r>
              <a:rPr lang="en-US"/>
              <a:t>My favorite food is a bagel with cream cheese</a:t>
            </a:r>
            <a:endParaRPr lang="en-US"/>
          </a:p>
        </p:txBody>
      </p:sp>
      <p:pic>
        <p:nvPicPr>
          <p:cNvPr id="4" name="Picture 3"/>
          <p:cNvPicPr>
            <a:picLocks noChangeAspect="1"/>
          </p:cNvPicPr>
          <p:nvPr/>
        </p:nvPicPr>
        <p:blipFill>
          <a:blip r:embed="rId1"/>
          <a:stretch>
            <a:fillRect/>
          </a:stretch>
        </p:blipFill>
        <p:spPr>
          <a:xfrm>
            <a:off x="1335405" y="3036570"/>
            <a:ext cx="8268335" cy="2787015"/>
          </a:xfrm>
          <a:prstGeom prst="rect">
            <a:avLst/>
          </a:prstGeom>
        </p:spPr>
      </p:pic>
      <p:sp>
        <p:nvSpPr>
          <p:cNvPr id="5" name="Text Box 4"/>
          <p:cNvSpPr txBox="1"/>
          <p:nvPr/>
        </p:nvSpPr>
        <p:spPr>
          <a:xfrm>
            <a:off x="314325" y="6015990"/>
            <a:ext cx="11039475" cy="645160"/>
          </a:xfrm>
          <a:prstGeom prst="rect">
            <a:avLst/>
          </a:prstGeom>
          <a:noFill/>
        </p:spPr>
        <p:txBody>
          <a:bodyPr wrap="square" rtlCol="0" anchor="t">
            <a:spAutoFit/>
          </a:bodyPr>
          <a:p>
            <a:r>
              <a:rPr lang="en-US" b="1"/>
              <a:t>When we train a very large AI system on a lot of data (hundreds of billions of words), we get a Large Language Model like ChatGPT.</a:t>
            </a:r>
            <a:endParaRPr lang="en-US" b="1"/>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The Language Model </a:t>
            </a:r>
            <a:endParaRPr lang="en-US" altLang="en-US"/>
          </a:p>
        </p:txBody>
      </p:sp>
      <p:pic>
        <p:nvPicPr>
          <p:cNvPr id="107" name="Picture 106"/>
          <p:cNvPicPr/>
          <p:nvPr/>
        </p:nvPicPr>
        <p:blipFill>
          <a:blip r:embed="rId1"/>
          <a:stretch>
            <a:fillRect/>
          </a:stretch>
        </p:blipFill>
        <p:spPr>
          <a:xfrm>
            <a:off x="448945" y="1511300"/>
            <a:ext cx="3225800" cy="2413000"/>
          </a:xfrm>
          <a:prstGeom prst="rect">
            <a:avLst/>
          </a:prstGeom>
          <a:noFill/>
          <a:ln w="9525">
            <a:solidFill>
              <a:schemeClr val="tx1"/>
            </a:solidFill>
          </a:ln>
        </p:spPr>
      </p:pic>
      <p:pic>
        <p:nvPicPr>
          <p:cNvPr id="108" name="Picture 107"/>
          <p:cNvPicPr/>
          <p:nvPr/>
        </p:nvPicPr>
        <p:blipFill>
          <a:blip r:embed="rId2"/>
          <a:srcRect r="31037"/>
          <a:stretch>
            <a:fillRect/>
          </a:stretch>
        </p:blipFill>
        <p:spPr>
          <a:xfrm>
            <a:off x="448945" y="4067175"/>
            <a:ext cx="3906520" cy="2654300"/>
          </a:xfrm>
          <a:prstGeom prst="rect">
            <a:avLst/>
          </a:prstGeom>
          <a:noFill/>
          <a:ln w="9525">
            <a:solidFill>
              <a:schemeClr val="tx1"/>
            </a:solidFill>
          </a:ln>
        </p:spPr>
      </p:pic>
      <p:graphicFrame>
        <p:nvGraphicFramePr>
          <p:cNvPr id="4" name="Object 3"/>
          <p:cNvGraphicFramePr/>
          <p:nvPr/>
        </p:nvGraphicFramePr>
        <p:xfrm>
          <a:off x="8844280" y="219710"/>
          <a:ext cx="2856230" cy="6501765"/>
        </p:xfrm>
        <a:graphic>
          <a:graphicData uri="http://schemas.openxmlformats.org/presentationml/2006/ole">
            <mc:AlternateContent xmlns:mc="http://schemas.openxmlformats.org/markup-compatibility/2006">
              <mc:Choice xmlns:v="urn:schemas-microsoft-com:vml" Requires="v">
                <p:oleObj spid="_x0000_s5" name="" r:id="rId3" imgW="3268980" imgH="7071360" progId="Paint.Picture">
                  <p:embed/>
                </p:oleObj>
              </mc:Choice>
              <mc:Fallback>
                <p:oleObj name="" r:id="rId3" imgW="3268980" imgH="7071360" progId="Paint.Picture">
                  <p:embed/>
                  <p:pic>
                    <p:nvPicPr>
                      <p:cNvPr id="0" name="Picture 4"/>
                      <p:cNvPicPr/>
                      <p:nvPr/>
                    </p:nvPicPr>
                    <p:blipFill>
                      <a:blip r:embed="rId4"/>
                      <a:stretch>
                        <a:fillRect/>
                      </a:stretch>
                    </p:blipFill>
                    <p:spPr>
                      <a:xfrm>
                        <a:off x="8844280" y="219710"/>
                        <a:ext cx="2856230" cy="6501765"/>
                      </a:xfrm>
                      <a:prstGeom prst="rect">
                        <a:avLst/>
                      </a:prstGeom>
                      <a:ln>
                        <a:solidFill>
                          <a:schemeClr val="tx1"/>
                        </a:solidFill>
                      </a:ln>
                    </p:spPr>
                  </p:pic>
                </p:oleObj>
              </mc:Fallback>
            </mc:AlternateContent>
          </a:graphicData>
        </a:graphic>
      </p:graphicFrame>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pic>
        <p:nvPicPr>
          <p:cNvPr id="6" name="Picture 5"/>
          <p:cNvPicPr>
            <a:picLocks noChangeAspect="1"/>
          </p:cNvPicPr>
          <p:nvPr/>
        </p:nvPicPr>
        <p:blipFill>
          <a:blip r:embed="rId5"/>
          <a:stretch>
            <a:fillRect/>
          </a:stretch>
        </p:blipFill>
        <p:spPr>
          <a:xfrm>
            <a:off x="4685665" y="1761490"/>
            <a:ext cx="3828415" cy="341820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2010-2020: Large scale supervised learning</a:t>
            </a:r>
            <a:endParaRPr lang="en-US"/>
          </a:p>
        </p:txBody>
      </p:sp>
      <p:pic>
        <p:nvPicPr>
          <p:cNvPr id="4" name="Picture 3"/>
          <p:cNvPicPr>
            <a:picLocks noChangeAspect="1"/>
          </p:cNvPicPr>
          <p:nvPr/>
        </p:nvPicPr>
        <p:blipFill>
          <a:blip r:embed="rId1"/>
          <a:stretch>
            <a:fillRect/>
          </a:stretch>
        </p:blipFill>
        <p:spPr>
          <a:xfrm>
            <a:off x="1177290" y="1691005"/>
            <a:ext cx="9616440" cy="4739640"/>
          </a:xfrm>
          <a:prstGeom prst="rect">
            <a:avLst/>
          </a:prstGeom>
        </p:spPr>
      </p:pic>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t>Large Language Models (LLMs) </a:t>
            </a:r>
            <a:endParaRPr lang="en-US"/>
          </a:p>
        </p:txBody>
      </p:sp>
      <p:sp>
        <p:nvSpPr>
          <p:cNvPr id="5" name="Text Placeholder 4"/>
          <p:cNvSpPr>
            <a:spLocks noGrp="1"/>
          </p:cNvSpPr>
          <p:nvPr>
            <p:ph type="body" idx="1"/>
          </p:nvPr>
        </p:nvSpPr>
        <p:spPr/>
        <p:txBody>
          <a:bodyPr/>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r>
              <a:rPr lang="en-US"/>
              <a:t>Generating text using Base LLM</a:t>
            </a:r>
            <a:endParaRPr lang="ar-EG" altLang="en-US"/>
          </a:p>
        </p:txBody>
      </p:sp>
      <p:pic>
        <p:nvPicPr>
          <p:cNvPr id="4" name="Content Placeholder 3"/>
          <p:cNvPicPr>
            <a:picLocks noChangeAspect="1"/>
          </p:cNvPicPr>
          <p:nvPr>
            <p:ph idx="1"/>
          </p:nvPr>
        </p:nvPicPr>
        <p:blipFill>
          <a:blip r:embed="rId1"/>
          <a:stretch>
            <a:fillRect/>
          </a:stretch>
        </p:blipFill>
        <p:spPr>
          <a:xfrm>
            <a:off x="982345" y="1951355"/>
            <a:ext cx="10226040" cy="4099560"/>
          </a:xfrm>
          <a:prstGeom prst="rect">
            <a:avLst/>
          </a:prstGeom>
        </p:spPr>
      </p:pic>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Prompts and completions</a:t>
            </a:r>
            <a:endParaRPr lang="en-US"/>
          </a:p>
        </p:txBody>
      </p:sp>
      <p:pic>
        <p:nvPicPr>
          <p:cNvPr id="4" name="Content Placeholder 3"/>
          <p:cNvPicPr>
            <a:picLocks noChangeAspect="1"/>
          </p:cNvPicPr>
          <p:nvPr>
            <p:ph idx="1"/>
          </p:nvPr>
        </p:nvPicPr>
        <p:blipFill>
          <a:blip r:embed="rId1"/>
          <a:srcRect b="21511"/>
          <a:stretch>
            <a:fillRect/>
          </a:stretch>
        </p:blipFill>
        <p:spPr>
          <a:xfrm>
            <a:off x="838200" y="1869440"/>
            <a:ext cx="10515600" cy="3345815"/>
          </a:xfrm>
          <a:prstGeom prst="rect">
            <a:avLst/>
          </a:prstGeom>
        </p:spPr>
      </p:pic>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
        <p:nvSpPr>
          <p:cNvPr id="5" name="Text Box 4"/>
          <p:cNvSpPr txBox="1"/>
          <p:nvPr/>
        </p:nvSpPr>
        <p:spPr>
          <a:xfrm>
            <a:off x="1261110" y="5525135"/>
            <a:ext cx="8626475" cy="521970"/>
          </a:xfrm>
          <a:prstGeom prst="rect">
            <a:avLst/>
          </a:prstGeom>
          <a:noFill/>
        </p:spPr>
        <p:txBody>
          <a:bodyPr wrap="square" rtlCol="0">
            <a:spAutoFit/>
          </a:bodyPr>
          <a:p>
            <a:r>
              <a:rPr lang="en-US" altLang="en-GB" sz="2800" b="1"/>
              <a:t>Context windows = # of tokens of (prompt + completion)</a:t>
            </a:r>
            <a:endParaRPr lang="en-US" altLang="en-GB" sz="2800" b="1"/>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How LLMs work? </a:t>
            </a:r>
            <a:endParaRPr lang="en-US"/>
          </a:p>
        </p:txBody>
      </p:sp>
      <p:sp>
        <p:nvSpPr>
          <p:cNvPr id="3" name="Content Placeholder 2"/>
          <p:cNvSpPr>
            <a:spLocks noGrp="1"/>
          </p:cNvSpPr>
          <p:nvPr>
            <p:ph idx="1"/>
          </p:nvPr>
        </p:nvSpPr>
        <p:spPr>
          <a:xfrm>
            <a:off x="838200" y="1825625"/>
            <a:ext cx="4140200" cy="4351655"/>
          </a:xfrm>
        </p:spPr>
        <p:txBody>
          <a:bodyPr/>
          <a:p>
            <a:r>
              <a:rPr lang="en-US"/>
              <a:t>how to predict the next word? </a:t>
            </a:r>
            <a:endParaRPr lang="en-US"/>
          </a:p>
          <a:p>
            <a:pPr lvl="1"/>
            <a:r>
              <a:rPr lang="en-US"/>
              <a:t>learn from a huge text data such as books, Wikipedia, news articles, papers, magazines, ... etc. </a:t>
            </a:r>
            <a:endParaRPr lang="en-US"/>
          </a:p>
        </p:txBody>
      </p:sp>
      <p:pic>
        <p:nvPicPr>
          <p:cNvPr id="112" name="Picture 111"/>
          <p:cNvPicPr/>
          <p:nvPr/>
        </p:nvPicPr>
        <p:blipFill>
          <a:blip r:embed="rId1"/>
          <a:stretch>
            <a:fillRect/>
          </a:stretch>
        </p:blipFill>
        <p:spPr>
          <a:xfrm>
            <a:off x="5143500" y="1948815"/>
            <a:ext cx="6769100" cy="4105910"/>
          </a:xfrm>
          <a:prstGeom prst="rect">
            <a:avLst/>
          </a:prstGeom>
          <a:noFill/>
          <a:ln w="9525">
            <a:noFill/>
          </a:ln>
        </p:spPr>
      </p:pic>
      <p:pic>
        <p:nvPicPr>
          <p:cNvPr id="114" name="Picture 113"/>
          <p:cNvPicPr/>
          <p:nvPr/>
        </p:nvPicPr>
        <p:blipFill>
          <a:blip r:embed="rId2"/>
          <a:stretch>
            <a:fillRect/>
          </a:stretch>
        </p:blipFill>
        <p:spPr>
          <a:xfrm>
            <a:off x="3305810" y="4820285"/>
            <a:ext cx="1672590" cy="1492250"/>
          </a:xfrm>
          <a:prstGeom prst="rect">
            <a:avLst/>
          </a:prstGeom>
          <a:noFill/>
          <a:ln w="9525">
            <a:noFill/>
          </a:ln>
        </p:spPr>
      </p:pic>
      <p:pic>
        <p:nvPicPr>
          <p:cNvPr id="116" name="Picture 115"/>
          <p:cNvPicPr/>
          <p:nvPr/>
        </p:nvPicPr>
        <p:blipFill>
          <a:blip r:embed="rId3"/>
          <a:stretch>
            <a:fillRect/>
          </a:stretch>
        </p:blipFill>
        <p:spPr>
          <a:xfrm>
            <a:off x="1167130" y="4497705"/>
            <a:ext cx="1722120" cy="1679575"/>
          </a:xfrm>
          <a:prstGeom prst="rect">
            <a:avLst/>
          </a:prstGeom>
          <a:noFill/>
          <a:ln w="9525">
            <a:noFill/>
          </a:ln>
        </p:spPr>
      </p:pic>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Multi-task, instruction fine-tuning</a:t>
            </a:r>
            <a:endParaRPr lang="en-US"/>
          </a:p>
        </p:txBody>
      </p:sp>
      <p:pic>
        <p:nvPicPr>
          <p:cNvPr id="6" name="Content Placeholder 5"/>
          <p:cNvPicPr>
            <a:picLocks noChangeAspect="1"/>
          </p:cNvPicPr>
          <p:nvPr>
            <p:ph idx="1"/>
          </p:nvPr>
        </p:nvPicPr>
        <p:blipFill>
          <a:blip r:embed="rId1"/>
          <a:stretch>
            <a:fillRect/>
          </a:stretch>
        </p:blipFill>
        <p:spPr>
          <a:xfrm>
            <a:off x="838200" y="1929130"/>
            <a:ext cx="10515600" cy="414401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T5 LLM model used for several tasks </a:t>
            </a:r>
            <a:endParaRPr lang="en-US"/>
          </a:p>
        </p:txBody>
      </p:sp>
      <p:pic>
        <p:nvPicPr>
          <p:cNvPr id="4" name="Content Placeholder 3"/>
          <p:cNvPicPr>
            <a:picLocks noChangeAspect="1"/>
          </p:cNvPicPr>
          <p:nvPr>
            <p:ph idx="1"/>
          </p:nvPr>
        </p:nvPicPr>
        <p:blipFill>
          <a:blip r:embed="rId1"/>
          <a:stretch>
            <a:fillRect/>
          </a:stretch>
        </p:blipFill>
        <p:spPr>
          <a:xfrm>
            <a:off x="838200" y="1891665"/>
            <a:ext cx="10515600" cy="4218305"/>
          </a:xfrm>
          <a:prstGeom prst="rect">
            <a:avLst/>
          </a:prstGeom>
        </p:spPr>
      </p:pic>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itle 6"/>
          <p:cNvSpPr>
            <a:spLocks noGrp="1"/>
          </p:cNvSpPr>
          <p:nvPr>
            <p:ph type="title"/>
          </p:nvPr>
        </p:nvSpPr>
        <p:spPr/>
        <p:txBody>
          <a:bodyPr/>
          <a:p>
            <a:r>
              <a:rPr lang="en-US">
                <a:sym typeface="+mn-ea"/>
              </a:rPr>
              <a:t>Types of LLMs </a:t>
            </a:r>
            <a:endParaRPr lang="en-US"/>
          </a:p>
        </p:txBody>
      </p:sp>
      <p:graphicFrame>
        <p:nvGraphicFramePr>
          <p:cNvPr id="9" name="Diagram 8"/>
          <p:cNvGraphicFramePr/>
          <p:nvPr/>
        </p:nvGraphicFramePr>
        <p:xfrm>
          <a:off x="1685290" y="1691005"/>
          <a:ext cx="8431530" cy="499618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2" name="Slide Number Placeholder 1"/>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t>Types of LLMs </a:t>
            </a:r>
            <a:endParaRPr lang="en-US"/>
          </a:p>
        </p:txBody>
      </p:sp>
      <p:sp>
        <p:nvSpPr>
          <p:cNvPr id="4" name="Text Placeholder 3"/>
          <p:cNvSpPr>
            <a:spLocks noGrp="1"/>
          </p:cNvSpPr>
          <p:nvPr>
            <p:ph type="body" idx="1"/>
          </p:nvPr>
        </p:nvSpPr>
        <p:spPr/>
        <p:txBody>
          <a:bodyPr/>
          <a:p>
            <a:r>
              <a:rPr lang="en-US"/>
              <a:t>Base LLM</a:t>
            </a:r>
            <a:endParaRPr lang="en-US"/>
          </a:p>
        </p:txBody>
      </p:sp>
      <p:sp>
        <p:nvSpPr>
          <p:cNvPr id="5" name="Content Placeholder 4"/>
          <p:cNvSpPr>
            <a:spLocks noGrp="1"/>
          </p:cNvSpPr>
          <p:nvPr>
            <p:ph sz="half" idx="2"/>
          </p:nvPr>
        </p:nvSpPr>
        <p:spPr>
          <a:xfrm>
            <a:off x="840105" y="2505075"/>
            <a:ext cx="5157470" cy="3980815"/>
          </a:xfrm>
          <a:ln>
            <a:solidFill>
              <a:schemeClr val="tx1"/>
            </a:solidFill>
          </a:ln>
        </p:spPr>
        <p:txBody>
          <a:bodyPr/>
          <a:p>
            <a:r>
              <a:rPr lang="en-US" sz="2000"/>
              <a:t>Predicts the next word based on text training data.</a:t>
            </a:r>
            <a:endParaRPr lang="en-US" sz="2000"/>
          </a:p>
          <a:p>
            <a:endParaRPr lang="en-US" sz="2000"/>
          </a:p>
          <a:p>
            <a:pPr marL="0" indent="0">
              <a:buNone/>
            </a:pPr>
            <a:endParaRPr lang="en-US" sz="2000"/>
          </a:p>
          <a:p>
            <a:pPr marL="0" indent="0">
              <a:buNone/>
            </a:pPr>
            <a:endParaRPr lang="en-US" sz="2000"/>
          </a:p>
          <a:p>
            <a:r>
              <a:rPr lang="en-US" sz="2000"/>
              <a:t>Questions posed to Base LLM (no answers provided): </a:t>
            </a:r>
            <a:endParaRPr lang="en-US" sz="2000"/>
          </a:p>
          <a:p>
            <a:pPr lvl="1"/>
            <a:endParaRPr lang="en-US" sz="2000"/>
          </a:p>
        </p:txBody>
      </p:sp>
      <p:sp>
        <p:nvSpPr>
          <p:cNvPr id="7" name="Text Placeholder 6"/>
          <p:cNvSpPr>
            <a:spLocks noGrp="1"/>
          </p:cNvSpPr>
          <p:nvPr>
            <p:ph type="body" sz="quarter" idx="3"/>
          </p:nvPr>
        </p:nvSpPr>
        <p:spPr/>
        <p:txBody>
          <a:bodyPr/>
          <a:p>
            <a:r>
              <a:rPr lang="en-US"/>
              <a:t>Instruct LLM</a:t>
            </a:r>
            <a:endParaRPr lang="en-US"/>
          </a:p>
        </p:txBody>
      </p:sp>
      <p:sp>
        <p:nvSpPr>
          <p:cNvPr id="8" name="Content Placeholder 7"/>
          <p:cNvSpPr>
            <a:spLocks noGrp="1"/>
          </p:cNvSpPr>
          <p:nvPr>
            <p:ph sz="quarter" idx="4"/>
          </p:nvPr>
        </p:nvSpPr>
        <p:spPr>
          <a:xfrm>
            <a:off x="6172200" y="2505075"/>
            <a:ext cx="5183505" cy="3981450"/>
          </a:xfrm>
          <a:ln>
            <a:solidFill>
              <a:schemeClr val="tx1"/>
            </a:solidFill>
          </a:ln>
        </p:spPr>
        <p:txBody>
          <a:bodyPr/>
          <a:p>
            <a:r>
              <a:rPr lang="en-US" sz="2000">
                <a:sym typeface="+mn-ea"/>
              </a:rPr>
              <a:t>follow instructions but doesn’t always provide accurate answers.</a:t>
            </a:r>
            <a:endParaRPr lang="en-US" sz="2000">
              <a:sym typeface="+mn-ea"/>
            </a:endParaRPr>
          </a:p>
          <a:p>
            <a:r>
              <a:rPr lang="en-US" sz="2000"/>
              <a:t>Fine-tuned on instructions and good attempts at following them.</a:t>
            </a:r>
            <a:endParaRPr lang="en-US" sz="2000"/>
          </a:p>
          <a:p>
            <a:r>
              <a:rPr lang="en-US" sz="2000"/>
              <a:t>LLMs Reinforcement Learning with Human Feedback (</a:t>
            </a:r>
            <a:r>
              <a:rPr lang="en-US" sz="2000" b="1"/>
              <a:t>RLHF</a:t>
            </a:r>
            <a:r>
              <a:rPr lang="en-US" sz="2000"/>
              <a:t>) </a:t>
            </a:r>
            <a:endParaRPr lang="en-US" sz="2000"/>
          </a:p>
          <a:p>
            <a:r>
              <a:rPr lang="en-US" sz="2000"/>
              <a:t>Quality is measured via 3 measures </a:t>
            </a:r>
            <a:endParaRPr lang="en-US" sz="2000"/>
          </a:p>
          <a:p>
            <a:pPr lvl="1"/>
            <a:r>
              <a:rPr lang="en-US" sz="1710"/>
              <a:t>Helpful, Honest, Harmless: HHH </a:t>
            </a:r>
            <a:endParaRPr lang="en-US" sz="1710"/>
          </a:p>
          <a:p>
            <a:pPr lvl="1"/>
            <a:endParaRPr lang="en-US" sz="1800"/>
          </a:p>
          <a:p>
            <a:endParaRPr lang="en-US" sz="1800"/>
          </a:p>
        </p:txBody>
      </p:sp>
      <p:sp>
        <p:nvSpPr>
          <p:cNvPr id="9" name="Text Box 8"/>
          <p:cNvSpPr txBox="1"/>
          <p:nvPr/>
        </p:nvSpPr>
        <p:spPr>
          <a:xfrm>
            <a:off x="1270000" y="3429000"/>
            <a:ext cx="4173855" cy="922020"/>
          </a:xfrm>
          <a:prstGeom prst="rect">
            <a:avLst/>
          </a:prstGeom>
          <a:solidFill>
            <a:schemeClr val="bg1">
              <a:lumMod val="65000"/>
            </a:schemeClr>
          </a:solidFill>
        </p:spPr>
        <p:txBody>
          <a:bodyPr wrap="square" rtlCol="0" anchor="t">
            <a:spAutoFit/>
          </a:bodyPr>
          <a:p>
            <a:r>
              <a:rPr lang="en-US">
                <a:sym typeface="+mn-ea"/>
              </a:rPr>
              <a:t>“Once upon a time, there was a unicorn that lived in a magical forest with all her unicorn friends.”</a:t>
            </a:r>
            <a:endParaRPr lang="en-US">
              <a:sym typeface="+mn-ea"/>
            </a:endParaRPr>
          </a:p>
        </p:txBody>
      </p:sp>
      <p:sp>
        <p:nvSpPr>
          <p:cNvPr id="10" name="Text Box 9"/>
          <p:cNvSpPr txBox="1"/>
          <p:nvPr/>
        </p:nvSpPr>
        <p:spPr>
          <a:xfrm>
            <a:off x="1109345" y="5426075"/>
            <a:ext cx="3716655" cy="922020"/>
          </a:xfrm>
          <a:prstGeom prst="rect">
            <a:avLst/>
          </a:prstGeom>
          <a:solidFill>
            <a:schemeClr val="bg1">
              <a:lumMod val="65000"/>
            </a:schemeClr>
          </a:solidFill>
        </p:spPr>
        <p:txBody>
          <a:bodyPr wrap="square" rtlCol="0" anchor="t">
            <a:spAutoFit/>
          </a:bodyPr>
          <a:p>
            <a:pPr lvl="0"/>
            <a:r>
              <a:rPr lang="en-US">
                <a:sym typeface="+mn-ea"/>
              </a:rPr>
              <a:t>“What is the capital of France? </a:t>
            </a:r>
            <a:endParaRPr lang="en-US">
              <a:sym typeface="+mn-ea"/>
            </a:endParaRPr>
          </a:p>
          <a:p>
            <a:pPr lvl="0"/>
            <a:r>
              <a:rPr lang="en-US">
                <a:sym typeface="+mn-ea"/>
              </a:rPr>
              <a:t>What is France’s largest city? </a:t>
            </a:r>
            <a:endParaRPr lang="en-US">
              <a:sym typeface="+mn-ea"/>
            </a:endParaRPr>
          </a:p>
          <a:p>
            <a:pPr lvl="0"/>
            <a:r>
              <a:rPr lang="en-US">
                <a:sym typeface="+mn-ea"/>
              </a:rPr>
              <a:t>What is the currency of France?”</a:t>
            </a:r>
            <a:endParaRPr lang="en-US">
              <a:sym typeface="+mn-ea"/>
            </a:endParaRPr>
          </a:p>
        </p:txBody>
      </p:sp>
      <p:sp>
        <p:nvSpPr>
          <p:cNvPr id="11" name="Text Box 10"/>
          <p:cNvSpPr txBox="1"/>
          <p:nvPr/>
        </p:nvSpPr>
        <p:spPr>
          <a:xfrm>
            <a:off x="6316345" y="5426075"/>
            <a:ext cx="3680460" cy="922020"/>
          </a:xfrm>
          <a:prstGeom prst="rect">
            <a:avLst/>
          </a:prstGeom>
          <a:solidFill>
            <a:schemeClr val="bg1">
              <a:lumMod val="65000"/>
            </a:schemeClr>
          </a:solidFill>
        </p:spPr>
        <p:txBody>
          <a:bodyPr wrap="square" rtlCol="0" anchor="t">
            <a:noAutofit/>
          </a:bodyPr>
          <a:p>
            <a:pPr marL="0" lvl="0" indent="0">
              <a:buNone/>
            </a:pPr>
            <a:r>
              <a:rPr lang="en-US">
                <a:sym typeface="+mn-ea"/>
              </a:rPr>
              <a:t>“What is the capital of France? </a:t>
            </a:r>
            <a:endParaRPr lang="en-US">
              <a:sym typeface="+mn-ea"/>
            </a:endParaRPr>
          </a:p>
          <a:p>
            <a:pPr marL="0" lvl="0" indent="0">
              <a:buNone/>
            </a:pPr>
            <a:r>
              <a:rPr lang="en-US">
                <a:sym typeface="+mn-ea"/>
              </a:rPr>
              <a:t>The capital of France is Paris.”</a:t>
            </a:r>
            <a:endParaRPr lang="en-US">
              <a:sym typeface="+mn-ea"/>
            </a:endParaRPr>
          </a:p>
        </p:txBody>
      </p:sp>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itle 6"/>
          <p:cNvSpPr>
            <a:spLocks noGrp="1"/>
          </p:cNvSpPr>
          <p:nvPr>
            <p:ph type="title"/>
          </p:nvPr>
        </p:nvSpPr>
        <p:spPr/>
        <p:txBody>
          <a:bodyPr/>
          <a:p>
            <a:r>
              <a:rPr lang="en-US">
                <a:sym typeface="+mn-ea"/>
              </a:rPr>
              <a:t>Helpful, Honest, Harmless: HHH </a:t>
            </a:r>
            <a:endParaRPr lang="en-US"/>
          </a:p>
        </p:txBody>
      </p:sp>
      <p:sp>
        <p:nvSpPr>
          <p:cNvPr id="8" name="Content Placeholder 7"/>
          <p:cNvSpPr>
            <a:spLocks noGrp="1"/>
          </p:cNvSpPr>
          <p:nvPr>
            <p:ph idx="1"/>
          </p:nvPr>
        </p:nvSpPr>
        <p:spPr/>
        <p:txBody>
          <a:bodyPr/>
          <a:p>
            <a:r>
              <a:rPr lang="en-US" b="1"/>
              <a:t>Helpful</a:t>
            </a:r>
            <a:r>
              <a:rPr lang="en-US"/>
              <a:t>: Refers to the model’s ability to provide useful and relevant information or assistance. </a:t>
            </a:r>
            <a:endParaRPr lang="en-US"/>
          </a:p>
          <a:p>
            <a:r>
              <a:rPr lang="en-US" b="1"/>
              <a:t>Honest</a:t>
            </a:r>
            <a:r>
              <a:rPr lang="en-US"/>
              <a:t>: Indicates that the model’s responses are truthful and transparent. When the model provides an answer, it aims to be honest rather than misleading or deceptive.</a:t>
            </a:r>
            <a:endParaRPr lang="en-US"/>
          </a:p>
          <a:p>
            <a:r>
              <a:rPr lang="en-US" b="1"/>
              <a:t>Harmless</a:t>
            </a:r>
            <a:r>
              <a:rPr lang="en-US"/>
              <a:t>: Implies that the model’s outputs are not harmful or malicious. It won’t intentionally cause harm or negative consequences through its responses</a:t>
            </a:r>
            <a:endParaRPr lang="en-US"/>
          </a:p>
        </p:txBody>
      </p:sp>
      <p:sp>
        <p:nvSpPr>
          <p:cNvPr id="2" name="Slide Number Placeholder 1"/>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Reinforcement Learning</a:t>
            </a:r>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pic>
        <p:nvPicPr>
          <p:cNvPr id="8194" name="Picture 2" descr="Three Things to Know About Reinforcement Learning - KDnugget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39041" y="2144021"/>
            <a:ext cx="6913263" cy="347572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Reinforcement learning (RL)</a:t>
            </a:r>
            <a:endParaRPr lang="en-US"/>
          </a:p>
        </p:txBody>
      </p:sp>
      <p:pic>
        <p:nvPicPr>
          <p:cNvPr id="4" name="Content Placeholder 3"/>
          <p:cNvPicPr>
            <a:picLocks noChangeAspect="1"/>
          </p:cNvPicPr>
          <p:nvPr>
            <p:ph idx="1"/>
          </p:nvPr>
        </p:nvPicPr>
        <p:blipFill>
          <a:blip r:embed="rId1"/>
          <a:stretch>
            <a:fillRect/>
          </a:stretch>
        </p:blipFill>
        <p:spPr>
          <a:xfrm>
            <a:off x="1717040" y="1825625"/>
            <a:ext cx="8757285" cy="4351655"/>
          </a:xfrm>
          <a:prstGeom prst="rect">
            <a:avLst/>
          </a:prstGeom>
        </p:spPr>
      </p:pic>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Reinforcement learning: Tic-Tac-Toe</a:t>
            </a:r>
            <a:endParaRPr lang="en-US"/>
          </a:p>
        </p:txBody>
      </p:sp>
      <p:pic>
        <p:nvPicPr>
          <p:cNvPr id="4" name="Content Placeholder 3"/>
          <p:cNvPicPr>
            <a:picLocks noChangeAspect="1"/>
          </p:cNvPicPr>
          <p:nvPr>
            <p:ph idx="1"/>
          </p:nvPr>
        </p:nvPicPr>
        <p:blipFill>
          <a:blip r:embed="rId1"/>
          <a:stretch>
            <a:fillRect/>
          </a:stretch>
        </p:blipFill>
        <p:spPr>
          <a:xfrm>
            <a:off x="838200" y="1873885"/>
            <a:ext cx="10515600" cy="4254500"/>
          </a:xfrm>
          <a:prstGeom prst="rect">
            <a:avLst/>
          </a:prstGeom>
        </p:spPr>
      </p:pic>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Reinforcement learning: fine-tune LLMs </a:t>
            </a:r>
            <a:endParaRPr lang="en-US"/>
          </a:p>
        </p:txBody>
      </p:sp>
      <p:pic>
        <p:nvPicPr>
          <p:cNvPr id="4" name="Content Placeholder 3"/>
          <p:cNvPicPr>
            <a:picLocks noChangeAspect="1"/>
          </p:cNvPicPr>
          <p:nvPr>
            <p:ph idx="1"/>
          </p:nvPr>
        </p:nvPicPr>
        <p:blipFill>
          <a:blip r:embed="rId1"/>
          <a:stretch>
            <a:fillRect/>
          </a:stretch>
        </p:blipFill>
        <p:spPr>
          <a:xfrm>
            <a:off x="1284605" y="1825625"/>
            <a:ext cx="9621520" cy="4351655"/>
          </a:xfrm>
          <a:prstGeom prst="rect">
            <a:avLst/>
          </a:prstGeom>
        </p:spPr>
      </p:pic>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itle 6"/>
          <p:cNvSpPr>
            <a:spLocks noGrp="1"/>
          </p:cNvSpPr>
          <p:nvPr>
            <p:ph type="title"/>
          </p:nvPr>
        </p:nvSpPr>
        <p:spPr/>
        <p:txBody>
          <a:bodyPr>
            <a:normAutofit fontScale="90000"/>
          </a:bodyPr>
          <a:p>
            <a:r>
              <a:rPr lang="en-US"/>
              <a:t>How do chat systems learn to follow instructions?</a:t>
            </a:r>
            <a:endParaRPr lang="en-US"/>
          </a:p>
        </p:txBody>
      </p:sp>
      <p:sp>
        <p:nvSpPr>
          <p:cNvPr id="8" name="Content Placeholder 7"/>
          <p:cNvSpPr>
            <a:spLocks noGrp="1"/>
          </p:cNvSpPr>
          <p:nvPr>
            <p:ph idx="1"/>
          </p:nvPr>
        </p:nvSpPr>
        <p:spPr/>
        <p:txBody>
          <a:bodyPr/>
          <a:p>
            <a:r>
              <a:rPr lang="en-US"/>
              <a:t>Reinforcement learning from human feedback (RLHF)</a:t>
            </a:r>
            <a:endParaRPr lang="en-US"/>
          </a:p>
          <a:p>
            <a:endParaRPr lang="en-US"/>
          </a:p>
        </p:txBody>
      </p:sp>
      <p:pic>
        <p:nvPicPr>
          <p:cNvPr id="9" name="Picture 8"/>
          <p:cNvPicPr>
            <a:picLocks noChangeAspect="1"/>
          </p:cNvPicPr>
          <p:nvPr/>
        </p:nvPicPr>
        <p:blipFill>
          <a:blip r:embed="rId1"/>
          <a:stretch>
            <a:fillRect/>
          </a:stretch>
        </p:blipFill>
        <p:spPr>
          <a:xfrm>
            <a:off x="838200" y="2450465"/>
            <a:ext cx="10620375" cy="4104640"/>
          </a:xfrm>
          <a:prstGeom prst="rect">
            <a:avLst/>
          </a:prstGeom>
        </p:spPr>
      </p:pic>
      <p:sp>
        <p:nvSpPr>
          <p:cNvPr id="2" name="Slide Number Placeholder 1"/>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Collect human feedback</a:t>
            </a:r>
            <a:endParaRPr lang="en-US"/>
          </a:p>
        </p:txBody>
      </p:sp>
      <p:sp>
        <p:nvSpPr>
          <p:cNvPr id="3" name="Content Placeholder 2"/>
          <p:cNvSpPr>
            <a:spLocks noGrp="1"/>
          </p:cNvSpPr>
          <p:nvPr>
            <p:ph idx="1"/>
          </p:nvPr>
        </p:nvSpPr>
        <p:spPr/>
        <p:txBody>
          <a:bodyPr/>
          <a:p>
            <a:r>
              <a:rPr lang="en-US"/>
              <a:t>Define your model alignment criterion</a:t>
            </a:r>
            <a:endParaRPr lang="en-US"/>
          </a:p>
          <a:p>
            <a:r>
              <a:rPr lang="en-US"/>
              <a:t>For the prompt-response sets that you just generated, obtain human feedback through labeler workforce</a:t>
            </a:r>
            <a:endParaRPr lang="en-US"/>
          </a:p>
        </p:txBody>
      </p:sp>
      <p:pic>
        <p:nvPicPr>
          <p:cNvPr id="4" name="Picture 3"/>
          <p:cNvPicPr>
            <a:picLocks noChangeAspect="1"/>
          </p:cNvPicPr>
          <p:nvPr/>
        </p:nvPicPr>
        <p:blipFill>
          <a:blip r:embed="rId1"/>
          <a:stretch>
            <a:fillRect/>
          </a:stretch>
        </p:blipFill>
        <p:spPr>
          <a:xfrm>
            <a:off x="2365375" y="3005455"/>
            <a:ext cx="8988425" cy="3171825"/>
          </a:xfrm>
          <a:prstGeom prst="rect">
            <a:avLst/>
          </a:prstGeom>
        </p:spPr>
      </p:pic>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Sample instructions for human labelers</a:t>
            </a:r>
            <a:endParaRPr lang="en-US"/>
          </a:p>
        </p:txBody>
      </p:sp>
      <p:pic>
        <p:nvPicPr>
          <p:cNvPr id="4" name="Content Placeholder 3"/>
          <p:cNvPicPr>
            <a:picLocks noChangeAspect="1"/>
          </p:cNvPicPr>
          <p:nvPr>
            <p:ph idx="1"/>
          </p:nvPr>
        </p:nvPicPr>
        <p:blipFill>
          <a:blip r:embed="rId1"/>
          <a:stretch>
            <a:fillRect/>
          </a:stretch>
        </p:blipFill>
        <p:spPr>
          <a:xfrm>
            <a:off x="1186815" y="1825625"/>
            <a:ext cx="8996045" cy="478917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t>LLM size </a:t>
            </a:r>
            <a:endParaRPr lang="en-US"/>
          </a:p>
        </p:txBody>
      </p:sp>
      <p:sp>
        <p:nvSpPr>
          <p:cNvPr id="5" name="Text Placeholder 4"/>
          <p:cNvSpPr>
            <a:spLocks noGrp="1"/>
          </p:cNvSpPr>
          <p:nvPr>
            <p:ph type="body" idx="1"/>
          </p:nvPr>
        </p:nvSpPr>
        <p:spPr/>
        <p:txBody>
          <a:bodyPr/>
          <a:p>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Model size</a:t>
            </a:r>
            <a:endParaRPr lang="en-US"/>
          </a:p>
        </p:txBody>
      </p:sp>
      <p:sp>
        <p:nvSpPr>
          <p:cNvPr id="3" name="Content Placeholder 2"/>
          <p:cNvSpPr>
            <a:spLocks noGrp="1"/>
          </p:cNvSpPr>
          <p:nvPr>
            <p:ph idx="1"/>
          </p:nvPr>
        </p:nvSpPr>
        <p:spPr/>
        <p:txBody>
          <a:bodyPr/>
          <a:p>
            <a:r>
              <a:rPr lang="en-US"/>
              <a:t># of Tokens: </a:t>
            </a:r>
            <a:endParaRPr lang="en-US"/>
          </a:p>
          <a:p>
            <a:pPr lvl="1"/>
            <a:r>
              <a:rPr lang="en-US"/>
              <a:t>The more text you feed a language model to train on, the better it is at providing human-like outputs across a large variety of domains.</a:t>
            </a:r>
            <a:endParaRPr lang="en-US"/>
          </a:p>
          <a:p>
            <a:r>
              <a:rPr lang="en-US"/>
              <a:t> # of Parameters:</a:t>
            </a:r>
            <a:endParaRPr lang="en-US"/>
          </a:p>
          <a:p>
            <a:pPr lvl="1"/>
            <a:r>
              <a:rPr lang="en-US"/>
              <a:t>The more parameters a model has, the larger its capacity to capture intricate nuances of language. </a:t>
            </a:r>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LLM Size (Llama 2)</a:t>
            </a:r>
            <a:endParaRPr lang="en-US"/>
          </a:p>
        </p:txBody>
      </p:sp>
      <p:pic>
        <p:nvPicPr>
          <p:cNvPr id="4" name="Content Placeholder 3" descr="Screenshot 2024-07-14 171553"/>
          <p:cNvPicPr>
            <a:picLocks noChangeAspect="1"/>
          </p:cNvPicPr>
          <p:nvPr>
            <p:ph idx="1"/>
          </p:nvPr>
        </p:nvPicPr>
        <p:blipFill>
          <a:blip r:embed="rId1"/>
          <a:stretch>
            <a:fillRect/>
          </a:stretch>
        </p:blipFill>
        <p:spPr>
          <a:xfrm>
            <a:off x="4002405" y="1825625"/>
            <a:ext cx="7573645" cy="4351655"/>
          </a:xfrm>
          <a:prstGeom prst="rect">
            <a:avLst/>
          </a:prstGeom>
        </p:spPr>
      </p:pic>
      <p:pic>
        <p:nvPicPr>
          <p:cNvPr id="5" name="Picture 4"/>
          <p:cNvPicPr>
            <a:picLocks noChangeAspect="1"/>
          </p:cNvPicPr>
          <p:nvPr/>
        </p:nvPicPr>
        <p:blipFill>
          <a:blip r:embed="rId2"/>
          <a:stretch>
            <a:fillRect/>
          </a:stretch>
        </p:blipFill>
        <p:spPr>
          <a:xfrm>
            <a:off x="653415" y="3415030"/>
            <a:ext cx="2943225" cy="2762250"/>
          </a:xfrm>
          <a:prstGeom prst="rect">
            <a:avLst/>
          </a:prstGeom>
        </p:spPr>
      </p:pic>
      <p:sp>
        <p:nvSpPr>
          <p:cNvPr id="6" name="Text Box 5"/>
          <p:cNvSpPr txBox="1"/>
          <p:nvPr/>
        </p:nvSpPr>
        <p:spPr>
          <a:xfrm>
            <a:off x="653415" y="1825625"/>
            <a:ext cx="4064000" cy="645160"/>
          </a:xfrm>
          <a:prstGeom prst="rect">
            <a:avLst/>
          </a:prstGeom>
          <a:noFill/>
        </p:spPr>
        <p:txBody>
          <a:bodyPr wrap="square" rtlCol="0">
            <a:spAutoFit/>
          </a:bodyPr>
          <a:p>
            <a:r>
              <a:rPr lang="en-US"/>
              <a:t>Model size is identified by the number of parameters </a:t>
            </a:r>
            <a:endParaRPr lang="en-US"/>
          </a:p>
        </p:txBody>
      </p:sp>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LLM Size (Code Llama 2)</a:t>
            </a:r>
            <a:endParaRPr lang="en-US"/>
          </a:p>
        </p:txBody>
      </p:sp>
      <p:pic>
        <p:nvPicPr>
          <p:cNvPr id="4" name="Content Placeholder 3"/>
          <p:cNvPicPr>
            <a:picLocks noChangeAspect="1"/>
          </p:cNvPicPr>
          <p:nvPr>
            <p:ph idx="1"/>
          </p:nvPr>
        </p:nvPicPr>
        <p:blipFill>
          <a:blip r:embed="rId1"/>
          <a:stretch>
            <a:fillRect/>
          </a:stretch>
        </p:blipFill>
        <p:spPr>
          <a:xfrm>
            <a:off x="838200" y="2877185"/>
            <a:ext cx="3419475" cy="2924175"/>
          </a:xfrm>
          <a:prstGeom prst="rect">
            <a:avLst/>
          </a:prstGeom>
        </p:spPr>
      </p:pic>
      <p:pic>
        <p:nvPicPr>
          <p:cNvPr id="5" name="Picture 4" descr="Screenshot 2024-07-14 184719"/>
          <p:cNvPicPr>
            <a:picLocks noChangeAspect="1"/>
          </p:cNvPicPr>
          <p:nvPr/>
        </p:nvPicPr>
        <p:blipFill>
          <a:blip r:embed="rId2"/>
          <a:stretch>
            <a:fillRect/>
          </a:stretch>
        </p:blipFill>
        <p:spPr>
          <a:xfrm>
            <a:off x="4902200" y="1997710"/>
            <a:ext cx="6743065" cy="4013835"/>
          </a:xfrm>
          <a:prstGeom prst="rect">
            <a:avLst/>
          </a:prstGeom>
        </p:spPr>
      </p:pic>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Large Language Models</a:t>
            </a:r>
            <a:endParaRPr lang="en-US"/>
          </a:p>
        </p:txBody>
      </p:sp>
      <p:pic>
        <p:nvPicPr>
          <p:cNvPr id="4" name="Content Placeholder 3"/>
          <p:cNvPicPr>
            <a:picLocks noChangeAspect="1"/>
          </p:cNvPicPr>
          <p:nvPr>
            <p:ph idx="1"/>
          </p:nvPr>
        </p:nvPicPr>
        <p:blipFill>
          <a:blip r:embed="rId1"/>
          <a:stretch>
            <a:fillRect/>
          </a:stretch>
        </p:blipFill>
        <p:spPr>
          <a:xfrm>
            <a:off x="1892300" y="1825625"/>
            <a:ext cx="8406130" cy="4351655"/>
          </a:xfrm>
          <a:prstGeom prst="rect">
            <a:avLst/>
          </a:prstGeom>
        </p:spPr>
      </p:pic>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t>The significance of scale: language understanding</a:t>
            </a:r>
            <a:endParaRPr lang="en-US"/>
          </a:p>
        </p:txBody>
      </p:sp>
      <p:pic>
        <p:nvPicPr>
          <p:cNvPr id="4" name="Content Placeholder 3"/>
          <p:cNvPicPr>
            <a:picLocks noChangeAspect="1"/>
          </p:cNvPicPr>
          <p:nvPr>
            <p:ph idx="1"/>
          </p:nvPr>
        </p:nvPicPr>
        <p:blipFill>
          <a:blip r:embed="rId1"/>
          <a:stretch>
            <a:fillRect/>
          </a:stretch>
        </p:blipFill>
        <p:spPr>
          <a:xfrm>
            <a:off x="1759585" y="1825625"/>
            <a:ext cx="8672195" cy="4351655"/>
          </a:xfrm>
          <a:prstGeom prst="rect">
            <a:avLst/>
          </a:prstGeom>
        </p:spPr>
      </p:pic>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endParaRPr lang="en-US"/>
          </a:p>
        </p:txBody>
      </p:sp>
      <p:pic>
        <p:nvPicPr>
          <p:cNvPr id="117" name="Picture 116"/>
          <p:cNvPicPr/>
          <p:nvPr/>
        </p:nvPicPr>
        <p:blipFill>
          <a:blip r:embed="rId1"/>
          <a:stretch>
            <a:fillRect/>
          </a:stretch>
        </p:blipFill>
        <p:spPr>
          <a:xfrm>
            <a:off x="117475" y="215900"/>
            <a:ext cx="11750675" cy="6451600"/>
          </a:xfrm>
          <a:prstGeom prst="rect">
            <a:avLst/>
          </a:prstGeom>
          <a:noFill/>
          <a:ln w="9525">
            <a:noFill/>
          </a:ln>
        </p:spPr>
      </p:pic>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model size (# of parameters)</a:t>
            </a:r>
            <a:endParaRPr lang="en-US"/>
          </a:p>
        </p:txBody>
      </p:sp>
      <p:sp>
        <p:nvSpPr>
          <p:cNvPr id="5" name="Text Box 4"/>
          <p:cNvSpPr txBox="1"/>
          <p:nvPr/>
        </p:nvSpPr>
        <p:spPr>
          <a:xfrm>
            <a:off x="922655" y="1365250"/>
            <a:ext cx="4064000" cy="460375"/>
          </a:xfrm>
          <a:prstGeom prst="rect">
            <a:avLst/>
          </a:prstGeom>
          <a:noFill/>
        </p:spPr>
        <p:txBody>
          <a:bodyPr wrap="square" rtlCol="0">
            <a:spAutoFit/>
          </a:bodyPr>
          <a:p>
            <a:r>
              <a:rPr lang="en-US" sz="2400" b="1"/>
              <a:t>LLMs becoming small!! </a:t>
            </a:r>
            <a:endParaRPr lang="en-US" sz="2400" b="1"/>
          </a:p>
        </p:txBody>
      </p:sp>
      <p:pic>
        <p:nvPicPr>
          <p:cNvPr id="6" name="Content Placeholder 5" descr="LLM size_LE_auto_x2"/>
          <p:cNvPicPr>
            <a:picLocks noChangeAspect="1"/>
          </p:cNvPicPr>
          <p:nvPr>
            <p:ph idx="1"/>
          </p:nvPr>
        </p:nvPicPr>
        <p:blipFill>
          <a:blip r:embed="rId1"/>
          <a:stretch>
            <a:fillRect/>
          </a:stretch>
        </p:blipFill>
        <p:spPr>
          <a:xfrm>
            <a:off x="128270" y="1825625"/>
            <a:ext cx="11934825" cy="4953635"/>
          </a:xfrm>
          <a:prstGeom prst="rect">
            <a:avLst/>
          </a:prstGeom>
        </p:spPr>
      </p:pic>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model size (# of tokens)</a:t>
            </a:r>
            <a:endParaRPr lang="en-US"/>
          </a:p>
        </p:txBody>
      </p:sp>
      <p:sp>
        <p:nvSpPr>
          <p:cNvPr id="3" name="Content Placeholder 2"/>
          <p:cNvSpPr>
            <a:spLocks noGrp="1"/>
          </p:cNvSpPr>
          <p:nvPr>
            <p:ph idx="1"/>
          </p:nvPr>
        </p:nvSpPr>
        <p:spPr/>
        <p:txBody>
          <a:bodyPr/>
          <a:p>
            <a:endParaRPr lang="en-US"/>
          </a:p>
        </p:txBody>
      </p:sp>
      <p:pic>
        <p:nvPicPr>
          <p:cNvPr id="113" name="Picture 112"/>
          <p:cNvPicPr/>
          <p:nvPr/>
        </p:nvPicPr>
        <p:blipFill>
          <a:blip r:embed="rId1"/>
          <a:stretch>
            <a:fillRect/>
          </a:stretch>
        </p:blipFill>
        <p:spPr>
          <a:xfrm>
            <a:off x="351155" y="1555115"/>
            <a:ext cx="10650220" cy="5189855"/>
          </a:xfrm>
          <a:prstGeom prst="rect">
            <a:avLst/>
          </a:prstGeom>
          <a:noFill/>
          <a:ln w="9525">
            <a:noFill/>
          </a:ln>
        </p:spPr>
      </p:pic>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Model size vs. time</a:t>
            </a:r>
            <a:endParaRPr lang="en-US"/>
          </a:p>
        </p:txBody>
      </p:sp>
      <p:pic>
        <p:nvPicPr>
          <p:cNvPr id="4" name="Content Placeholder 3"/>
          <p:cNvPicPr>
            <a:picLocks noChangeAspect="1"/>
          </p:cNvPicPr>
          <p:nvPr>
            <p:ph idx="1"/>
          </p:nvPr>
        </p:nvPicPr>
        <p:blipFill>
          <a:blip r:embed="rId1"/>
          <a:stretch>
            <a:fillRect/>
          </a:stretch>
        </p:blipFill>
        <p:spPr>
          <a:xfrm>
            <a:off x="1126490" y="1825625"/>
            <a:ext cx="9937750" cy="4351655"/>
          </a:xfrm>
          <a:prstGeom prst="rect">
            <a:avLst/>
          </a:prstGeom>
        </p:spPr>
      </p:pic>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Model size</a:t>
            </a:r>
            <a:endParaRPr lang="en-US"/>
          </a:p>
        </p:txBody>
      </p:sp>
      <p:graphicFrame>
        <p:nvGraphicFramePr>
          <p:cNvPr id="4" name="Content Placeholder 3"/>
          <p:cNvGraphicFramePr/>
          <p:nvPr>
            <p:ph idx="1"/>
          </p:nvPr>
        </p:nvGraphicFramePr>
        <p:xfrm>
          <a:off x="838200" y="1825625"/>
          <a:ext cx="9890760" cy="4201160"/>
        </p:xfrm>
        <a:graphic>
          <a:graphicData uri="http://schemas.openxmlformats.org/drawingml/2006/table">
            <a:tbl>
              <a:tblPr firstRow="1" bandRow="1">
                <a:tableStyleId>{5C22544A-7EE6-4342-B048-85BDC9FD1C3A}</a:tableStyleId>
              </a:tblPr>
              <a:tblGrid>
                <a:gridCol w="2038350"/>
                <a:gridCol w="7852410"/>
              </a:tblGrid>
              <a:tr h="562610">
                <a:tc>
                  <a:txBody>
                    <a:bodyPr/>
                    <a:p>
                      <a:pPr>
                        <a:buNone/>
                      </a:pPr>
                      <a:r>
                        <a:rPr lang="en-US" sz="2800"/>
                        <a:t>Parameters </a:t>
                      </a:r>
                      <a:endParaRPr lang="en-US" sz="2800"/>
                    </a:p>
                  </a:txBody>
                  <a:tcPr/>
                </a:tc>
                <a:tc>
                  <a:txBody>
                    <a:bodyPr/>
                    <a:p>
                      <a:pPr>
                        <a:buNone/>
                      </a:pPr>
                      <a:endParaRPr lang="en-US" sz="2800"/>
                    </a:p>
                  </a:txBody>
                  <a:tcPr/>
                </a:tc>
              </a:tr>
              <a:tr h="1347470">
                <a:tc>
                  <a:txBody>
                    <a:bodyPr/>
                    <a:p>
                      <a:pPr>
                        <a:buNone/>
                      </a:pPr>
                      <a:r>
                        <a:rPr lang="en-US" sz="2800"/>
                        <a:t>~1B</a:t>
                      </a:r>
                      <a:endParaRPr lang="en-US" sz="2800"/>
                    </a:p>
                  </a:txBody>
                  <a:tcPr/>
                </a:tc>
                <a:tc>
                  <a:txBody>
                    <a:bodyPr/>
                    <a:p>
                      <a:pPr>
                        <a:buNone/>
                      </a:pPr>
                      <a:r>
                        <a:rPr lang="en-US" sz="2800"/>
                        <a:t>Pattern matching and basic knowledge </a:t>
                      </a:r>
                      <a:endParaRPr lang="en-US" sz="2800"/>
                    </a:p>
                    <a:p>
                      <a:pPr>
                        <a:buNone/>
                      </a:pPr>
                      <a:r>
                        <a:rPr lang="en-US" sz="2800"/>
                        <a:t>of the world.</a:t>
                      </a:r>
                      <a:endParaRPr lang="en-US" sz="2800"/>
                    </a:p>
                  </a:txBody>
                  <a:tcPr/>
                </a:tc>
              </a:tr>
              <a:tr h="1347470">
                <a:tc>
                  <a:txBody>
                    <a:bodyPr/>
                    <a:p>
                      <a:pPr>
                        <a:buNone/>
                      </a:pPr>
                      <a:r>
                        <a:rPr lang="en-US" sz="2800">
                          <a:sym typeface="+mn-ea"/>
                        </a:rPr>
                        <a:t>~</a:t>
                      </a:r>
                      <a:r>
                        <a:rPr lang="en-US" sz="2800"/>
                        <a:t>10B</a:t>
                      </a:r>
                      <a:endParaRPr lang="en-US" sz="2800"/>
                    </a:p>
                  </a:txBody>
                  <a:tcPr/>
                </a:tc>
                <a:tc>
                  <a:txBody>
                    <a:bodyPr/>
                    <a:p>
                      <a:pPr>
                        <a:buNone/>
                      </a:pPr>
                      <a:r>
                        <a:rPr lang="en-US" sz="2800"/>
                        <a:t>Greater world knowledge. Can follow basic </a:t>
                      </a:r>
                      <a:endParaRPr lang="en-US" sz="2800"/>
                    </a:p>
                    <a:p>
                      <a:pPr>
                        <a:buNone/>
                      </a:pPr>
                      <a:r>
                        <a:rPr lang="en-US" sz="2800"/>
                        <a:t>instructions</a:t>
                      </a:r>
                      <a:endParaRPr lang="en-US" sz="2800"/>
                    </a:p>
                  </a:txBody>
                  <a:tcPr/>
                </a:tc>
              </a:tr>
              <a:tr h="943610">
                <a:tc>
                  <a:txBody>
                    <a:bodyPr/>
                    <a:p>
                      <a:pPr>
                        <a:buNone/>
                      </a:pPr>
                      <a:r>
                        <a:rPr lang="en-US" sz="2800">
                          <a:sym typeface="+mn-ea"/>
                        </a:rPr>
                        <a:t>~</a:t>
                      </a:r>
                      <a:r>
                        <a:rPr lang="en-US" sz="2800"/>
                        <a:t>100B+</a:t>
                      </a:r>
                      <a:endParaRPr lang="en-US" sz="2800"/>
                    </a:p>
                  </a:txBody>
                  <a:tcPr/>
                </a:tc>
                <a:tc>
                  <a:txBody>
                    <a:bodyPr/>
                    <a:p>
                      <a:pPr>
                        <a:buNone/>
                      </a:pPr>
                      <a:r>
                        <a:rPr lang="en-US" sz="2800"/>
                        <a:t>Rich world knowledge. Complex reasoning</a:t>
                      </a:r>
                      <a:endParaRPr lang="en-US" sz="2800"/>
                    </a:p>
                  </a:txBody>
                  <a:tcPr/>
                </a:tc>
              </a:tr>
            </a:tbl>
          </a:graphicData>
        </a:graphic>
      </p:graphicFrame>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Training data domain </a:t>
            </a:r>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pic>
        <p:nvPicPr>
          <p:cNvPr id="5" name="object 2"/>
          <p:cNvPicPr/>
          <p:nvPr/>
        </p:nvPicPr>
        <p:blipFill>
          <a:blip r:embed="rId1" cstate="print"/>
          <a:stretch>
            <a:fillRect/>
          </a:stretch>
        </p:blipFill>
        <p:spPr>
          <a:xfrm>
            <a:off x="838200" y="1691005"/>
            <a:ext cx="10083165" cy="460629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7840" y="1294266"/>
            <a:ext cx="8310033" cy="591185"/>
          </a:xfrm>
          <a:prstGeom prst="rect">
            <a:avLst/>
          </a:prstGeom>
        </p:spPr>
        <p:txBody>
          <a:bodyPr vert="horz" wrap="square" lIns="0" tIns="16933" rIns="0" bIns="0" rtlCol="0" anchor="ctr">
            <a:spAutoFit/>
          </a:bodyPr>
          <a:lstStyle/>
          <a:p>
            <a:pPr marL="17145">
              <a:lnSpc>
                <a:spcPct val="100000"/>
              </a:lnSpc>
              <a:spcBef>
                <a:spcPts val="135"/>
              </a:spcBef>
            </a:pPr>
            <a:r>
              <a:rPr sz="3735" b="1" spc="-40" dirty="0">
                <a:solidFill>
                  <a:srgbClr val="000000"/>
                </a:solidFill>
              </a:rPr>
              <a:t>Technical</a:t>
            </a:r>
            <a:r>
              <a:rPr sz="3735" b="1" spc="-27" dirty="0">
                <a:solidFill>
                  <a:srgbClr val="000000"/>
                </a:solidFill>
              </a:rPr>
              <a:t> </a:t>
            </a:r>
            <a:r>
              <a:rPr sz="3735" b="1" spc="-7" dirty="0">
                <a:solidFill>
                  <a:srgbClr val="000000"/>
                </a:solidFill>
              </a:rPr>
              <a:t>Factors</a:t>
            </a:r>
            <a:r>
              <a:rPr sz="3735" b="1" spc="-27" dirty="0">
                <a:solidFill>
                  <a:srgbClr val="000000"/>
                </a:solidFill>
              </a:rPr>
              <a:t> </a:t>
            </a:r>
            <a:r>
              <a:rPr sz="3735" b="1" spc="-7" dirty="0">
                <a:solidFill>
                  <a:srgbClr val="000000"/>
                </a:solidFill>
              </a:rPr>
              <a:t>in</a:t>
            </a:r>
            <a:r>
              <a:rPr sz="3735" b="1" spc="-27" dirty="0">
                <a:solidFill>
                  <a:srgbClr val="000000"/>
                </a:solidFill>
              </a:rPr>
              <a:t> </a:t>
            </a:r>
            <a:r>
              <a:rPr sz="3735" b="1" spc="-7" dirty="0">
                <a:solidFill>
                  <a:srgbClr val="000000"/>
                </a:solidFill>
              </a:rPr>
              <a:t>choosing</a:t>
            </a:r>
            <a:r>
              <a:rPr sz="3735" b="1" spc="-27" dirty="0">
                <a:solidFill>
                  <a:srgbClr val="000000"/>
                </a:solidFill>
              </a:rPr>
              <a:t> </a:t>
            </a:r>
            <a:r>
              <a:rPr sz="3735" b="1" dirty="0">
                <a:solidFill>
                  <a:srgbClr val="000000"/>
                </a:solidFill>
              </a:rPr>
              <a:t>a</a:t>
            </a:r>
            <a:r>
              <a:rPr sz="3735" b="1" spc="-20" dirty="0">
                <a:solidFill>
                  <a:srgbClr val="000000"/>
                </a:solidFill>
              </a:rPr>
              <a:t> </a:t>
            </a:r>
            <a:r>
              <a:rPr sz="3735" b="1" spc="-7" dirty="0">
                <a:solidFill>
                  <a:srgbClr val="000000"/>
                </a:solidFill>
              </a:rPr>
              <a:t>LLM</a:t>
            </a:r>
            <a:endParaRPr sz="3735" b="1" dirty="0"/>
          </a:p>
        </p:txBody>
      </p:sp>
      <p:sp>
        <p:nvSpPr>
          <p:cNvPr id="3" name="object 3"/>
          <p:cNvSpPr txBox="1"/>
          <p:nvPr/>
        </p:nvSpPr>
        <p:spPr>
          <a:xfrm>
            <a:off x="423432" y="2254150"/>
            <a:ext cx="11030373" cy="4042410"/>
          </a:xfrm>
          <a:prstGeom prst="rect">
            <a:avLst/>
          </a:prstGeom>
        </p:spPr>
        <p:txBody>
          <a:bodyPr vert="horz" wrap="square" lIns="0" tIns="16933" rIns="0" bIns="0" rtlCol="0">
            <a:spAutoFit/>
          </a:bodyPr>
          <a:lstStyle/>
          <a:p>
            <a:pPr marL="17145" marR="421005">
              <a:spcBef>
                <a:spcPts val="135"/>
              </a:spcBef>
            </a:pPr>
            <a:r>
              <a:rPr sz="1865" dirty="0">
                <a:solidFill>
                  <a:srgbClr val="0D0D0D"/>
                </a:solidFill>
                <a:latin typeface="Arial" panose="020B0604020202020204"/>
                <a:cs typeface="Arial" panose="020B0604020202020204"/>
              </a:rPr>
              <a:t>Deciding which provider and foundational model would be a better choice depends on several factors  including number of parameters, size of context window, training type, inference speed, cost,</a:t>
            </a:r>
            <a:endParaRPr sz="1865" dirty="0">
              <a:solidFill>
                <a:srgbClr val="0D0D0D"/>
              </a:solidFill>
              <a:latin typeface="Arial" panose="020B0604020202020204"/>
              <a:cs typeface="Arial" panose="020B0604020202020204"/>
            </a:endParaRPr>
          </a:p>
          <a:p>
            <a:pPr marL="17145"/>
            <a:r>
              <a:rPr sz="1865" dirty="0">
                <a:solidFill>
                  <a:srgbClr val="0D0D0D"/>
                </a:solidFill>
                <a:latin typeface="Arial" panose="020B0604020202020204"/>
                <a:cs typeface="Arial" panose="020B0604020202020204"/>
              </a:rPr>
              <a:t>fine-tunability as well as data security.</a:t>
            </a:r>
            <a:endParaRPr sz="1865" dirty="0">
              <a:solidFill>
                <a:srgbClr val="0D0D0D"/>
              </a:solidFill>
              <a:latin typeface="Arial" panose="020B0604020202020204"/>
              <a:cs typeface="Arial" panose="020B0604020202020204"/>
            </a:endParaRPr>
          </a:p>
          <a:p>
            <a:pPr>
              <a:spcBef>
                <a:spcPts val="15"/>
              </a:spcBef>
            </a:pPr>
            <a:endParaRPr sz="1865" dirty="0">
              <a:solidFill>
                <a:srgbClr val="0D0D0D"/>
              </a:solidFill>
              <a:latin typeface="Arial" panose="020B0604020202020204"/>
              <a:cs typeface="Arial" panose="020B0604020202020204"/>
            </a:endParaRPr>
          </a:p>
          <a:p>
            <a:pPr marL="17145" marR="469265">
              <a:buAutoNum type="arabicPeriod"/>
              <a:tabLst>
                <a:tab pos="280035" algn="l"/>
              </a:tabLst>
            </a:pPr>
            <a:r>
              <a:rPr sz="1865" b="1" dirty="0">
                <a:solidFill>
                  <a:srgbClr val="0D0D0D"/>
                </a:solidFill>
                <a:latin typeface="Arial" panose="020B0604020202020204"/>
                <a:cs typeface="Arial" panose="020B0604020202020204"/>
              </a:rPr>
              <a:t>Number of Parameters</a:t>
            </a:r>
            <a:r>
              <a:rPr sz="1865" dirty="0">
                <a:solidFill>
                  <a:srgbClr val="0D0D0D"/>
                </a:solidFill>
                <a:latin typeface="Arial" panose="020B0604020202020204"/>
                <a:cs typeface="Arial" panose="020B0604020202020204"/>
              </a:rPr>
              <a:t>: The number of parameters in a model can influence its capacity and  performance. Larger models with more parameters often have the potential to capture more complex  patterns and achieve higher accuracy. However, larger models also require more computational  resources for training and inference.</a:t>
            </a:r>
            <a:endParaRPr sz="1865" dirty="0">
              <a:solidFill>
                <a:srgbClr val="0D0D0D"/>
              </a:solidFill>
              <a:latin typeface="Arial" panose="020B0604020202020204"/>
              <a:cs typeface="Arial" panose="020B0604020202020204"/>
            </a:endParaRPr>
          </a:p>
          <a:p>
            <a:pPr>
              <a:spcBef>
                <a:spcPts val="20"/>
              </a:spcBef>
              <a:buFont typeface="Arial" panose="020B0604020202020204"/>
              <a:buAutoNum type="arabicPeriod"/>
            </a:pPr>
            <a:endParaRPr sz="1865" dirty="0">
              <a:solidFill>
                <a:srgbClr val="0D0D0D"/>
              </a:solidFill>
              <a:latin typeface="Arial" panose="020B0604020202020204"/>
              <a:cs typeface="Arial" panose="020B0604020202020204"/>
            </a:endParaRPr>
          </a:p>
          <a:p>
            <a:pPr marL="17145" marR="6985">
              <a:buAutoNum type="arabicPeriod"/>
              <a:tabLst>
                <a:tab pos="280035" algn="l"/>
              </a:tabLst>
            </a:pPr>
            <a:r>
              <a:rPr sz="1865" b="1" dirty="0">
                <a:solidFill>
                  <a:srgbClr val="0D0D0D"/>
                </a:solidFill>
                <a:latin typeface="Arial" panose="020B0604020202020204"/>
                <a:cs typeface="Arial" panose="020B0604020202020204"/>
              </a:rPr>
              <a:t>Size of Context Window</a:t>
            </a:r>
            <a:r>
              <a:rPr sz="1865" dirty="0">
                <a:solidFill>
                  <a:srgbClr val="0D0D0D"/>
                </a:solidFill>
                <a:latin typeface="Arial" panose="020B0604020202020204"/>
                <a:cs typeface="Arial" panose="020B0604020202020204"/>
              </a:rPr>
              <a:t>: The context window refers to the amount of text or context that the model  considers when generating responses or predictions. Models with larger context windows have a broader  understanding of the context, which can be advantageous for generating more contextually relevant  outputs. However, larger context windows can also increase computational requirements and inference  time.</a:t>
            </a:r>
            <a:endParaRPr sz="1865" dirty="0">
              <a:solidFill>
                <a:srgbClr val="0D0D0D"/>
              </a:solidFill>
              <a:latin typeface="Arial" panose="020B0604020202020204"/>
              <a:cs typeface="Arial" panose="020B0604020202020204"/>
            </a:endParaRPr>
          </a:p>
        </p:txBody>
      </p:sp>
      <p:sp>
        <p:nvSpPr>
          <p:cNvPr id="4" name="Slide Number Placeholder 3"/>
          <p:cNvSpPr>
            <a:spLocks noGrp="1"/>
          </p:cNvSpPr>
          <p:nvPr>
            <p:ph type="sldNum" sz="quarter" idx="12"/>
          </p:nvPr>
        </p:nvSpPr>
        <p:spPr/>
        <p:txBody>
          <a:bodyPr/>
          <a:lstStyle/>
          <a:p>
            <a:fld id="{5EE24C92-1265-4741-8F9F-404A15D9386E}" type="slidenum">
              <a:rPr lang="en-US" smtClean="0"/>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8160" y="1227540"/>
            <a:ext cx="8310033" cy="591551"/>
          </a:xfrm>
          <a:prstGeom prst="rect">
            <a:avLst/>
          </a:prstGeom>
        </p:spPr>
        <p:txBody>
          <a:bodyPr vert="horz" wrap="square" lIns="0" tIns="16933" rIns="0" bIns="0" rtlCol="0" anchor="ctr">
            <a:spAutoFit/>
          </a:bodyPr>
          <a:lstStyle/>
          <a:p>
            <a:pPr marL="17145">
              <a:lnSpc>
                <a:spcPct val="100000"/>
              </a:lnSpc>
              <a:spcBef>
                <a:spcPts val="135"/>
              </a:spcBef>
            </a:pPr>
            <a:r>
              <a:rPr sz="3735" spc="-40" dirty="0">
                <a:solidFill>
                  <a:srgbClr val="000000"/>
                </a:solidFill>
              </a:rPr>
              <a:t>Technical</a:t>
            </a:r>
            <a:r>
              <a:rPr sz="3735" spc="-27" dirty="0">
                <a:solidFill>
                  <a:srgbClr val="000000"/>
                </a:solidFill>
              </a:rPr>
              <a:t> </a:t>
            </a:r>
            <a:r>
              <a:rPr sz="3735" spc="-7" dirty="0">
                <a:solidFill>
                  <a:srgbClr val="000000"/>
                </a:solidFill>
              </a:rPr>
              <a:t>Factors</a:t>
            </a:r>
            <a:r>
              <a:rPr sz="3735" spc="-27" dirty="0">
                <a:solidFill>
                  <a:srgbClr val="000000"/>
                </a:solidFill>
              </a:rPr>
              <a:t> </a:t>
            </a:r>
            <a:r>
              <a:rPr sz="3735" spc="-7" dirty="0">
                <a:solidFill>
                  <a:srgbClr val="000000"/>
                </a:solidFill>
              </a:rPr>
              <a:t>in</a:t>
            </a:r>
            <a:r>
              <a:rPr sz="3735" spc="-27" dirty="0">
                <a:solidFill>
                  <a:srgbClr val="000000"/>
                </a:solidFill>
              </a:rPr>
              <a:t> </a:t>
            </a:r>
            <a:r>
              <a:rPr sz="3735" spc="-7" dirty="0">
                <a:solidFill>
                  <a:srgbClr val="000000"/>
                </a:solidFill>
              </a:rPr>
              <a:t>choosing</a:t>
            </a:r>
            <a:r>
              <a:rPr sz="3735" spc="-27" dirty="0">
                <a:solidFill>
                  <a:srgbClr val="000000"/>
                </a:solidFill>
              </a:rPr>
              <a:t> </a:t>
            </a:r>
            <a:r>
              <a:rPr sz="3735" dirty="0">
                <a:solidFill>
                  <a:srgbClr val="000000"/>
                </a:solidFill>
              </a:rPr>
              <a:t>a</a:t>
            </a:r>
            <a:r>
              <a:rPr sz="3735" spc="-20" dirty="0">
                <a:solidFill>
                  <a:srgbClr val="000000"/>
                </a:solidFill>
              </a:rPr>
              <a:t> </a:t>
            </a:r>
            <a:r>
              <a:rPr sz="3735" spc="-7" dirty="0">
                <a:solidFill>
                  <a:srgbClr val="000000"/>
                </a:solidFill>
              </a:rPr>
              <a:t>LLM</a:t>
            </a:r>
            <a:endParaRPr sz="3735" dirty="0"/>
          </a:p>
        </p:txBody>
      </p:sp>
      <p:sp>
        <p:nvSpPr>
          <p:cNvPr id="3" name="object 3"/>
          <p:cNvSpPr txBox="1"/>
          <p:nvPr/>
        </p:nvSpPr>
        <p:spPr>
          <a:xfrm>
            <a:off x="577003" y="2335430"/>
            <a:ext cx="11037993" cy="3772550"/>
          </a:xfrm>
          <a:prstGeom prst="rect">
            <a:avLst/>
          </a:prstGeom>
        </p:spPr>
        <p:txBody>
          <a:bodyPr vert="horz" wrap="square" lIns="0" tIns="16933" rIns="0" bIns="0" rtlCol="0">
            <a:spAutoFit/>
          </a:bodyPr>
          <a:lstStyle/>
          <a:p>
            <a:pPr marL="17145" marR="175260">
              <a:spcBef>
                <a:spcPts val="135"/>
              </a:spcBef>
              <a:buFont typeface="Arial" panose="020B0604020202020204"/>
              <a:buAutoNum type="arabicPeriod" startAt="3"/>
              <a:tabLst>
                <a:tab pos="280670" algn="l"/>
              </a:tabLst>
            </a:pPr>
            <a:r>
              <a:rPr sz="1865" b="1" spc="-20" dirty="0">
                <a:latin typeface="Arial" panose="020B0604020202020204"/>
                <a:cs typeface="Arial" panose="020B0604020202020204"/>
              </a:rPr>
              <a:t>Training </a:t>
            </a:r>
            <a:r>
              <a:rPr sz="1865" b="1" spc="-33" dirty="0">
                <a:latin typeface="Arial" panose="020B0604020202020204"/>
                <a:cs typeface="Arial" panose="020B0604020202020204"/>
              </a:rPr>
              <a:t>Type: </a:t>
            </a:r>
            <a:r>
              <a:rPr sz="1865" spc="-13" dirty="0">
                <a:latin typeface="Arial" panose="020B0604020202020204"/>
                <a:cs typeface="Arial" panose="020B0604020202020204"/>
              </a:rPr>
              <a:t>Different </a:t>
            </a:r>
            <a:r>
              <a:rPr sz="1865" dirty="0">
                <a:latin typeface="Arial" panose="020B0604020202020204"/>
                <a:cs typeface="Arial" panose="020B0604020202020204"/>
              </a:rPr>
              <a:t>models can </a:t>
            </a:r>
            <a:r>
              <a:rPr sz="1865" spc="-7" dirty="0">
                <a:latin typeface="Arial" panose="020B0604020202020204"/>
                <a:cs typeface="Arial" panose="020B0604020202020204"/>
              </a:rPr>
              <a:t>be trained using </a:t>
            </a:r>
            <a:r>
              <a:rPr sz="1865" dirty="0">
                <a:latin typeface="Arial" panose="020B0604020202020204"/>
                <a:cs typeface="Arial" panose="020B0604020202020204"/>
              </a:rPr>
              <a:t>various methods, such </a:t>
            </a:r>
            <a:r>
              <a:rPr sz="1865" spc="-7" dirty="0">
                <a:latin typeface="Arial" panose="020B0604020202020204"/>
                <a:cs typeface="Arial" panose="020B0604020202020204"/>
              </a:rPr>
              <a:t>as </a:t>
            </a:r>
            <a:r>
              <a:rPr sz="1865" dirty="0">
                <a:latin typeface="Arial" panose="020B0604020202020204"/>
                <a:cs typeface="Arial" panose="020B0604020202020204"/>
              </a:rPr>
              <a:t>supervised </a:t>
            </a:r>
            <a:r>
              <a:rPr sz="1865" spc="-7" dirty="0">
                <a:latin typeface="Arial" panose="020B0604020202020204"/>
                <a:cs typeface="Arial" panose="020B0604020202020204"/>
              </a:rPr>
              <a:t>learning, </a:t>
            </a:r>
            <a:r>
              <a:rPr sz="1865" dirty="0">
                <a:latin typeface="Arial" panose="020B0604020202020204"/>
                <a:cs typeface="Arial" panose="020B0604020202020204"/>
              </a:rPr>
              <a:t> </a:t>
            </a:r>
            <a:r>
              <a:rPr sz="1865" spc="-7" dirty="0">
                <a:latin typeface="Arial" panose="020B0604020202020204"/>
                <a:cs typeface="Arial" panose="020B0604020202020204"/>
              </a:rPr>
              <a:t>unsupervised learning, or </a:t>
            </a:r>
            <a:r>
              <a:rPr sz="1865" dirty="0">
                <a:latin typeface="Arial" panose="020B0604020202020204"/>
                <a:cs typeface="Arial" panose="020B0604020202020204"/>
              </a:rPr>
              <a:t>self-supervised </a:t>
            </a:r>
            <a:r>
              <a:rPr sz="1865" spc="-7" dirty="0">
                <a:latin typeface="Arial" panose="020B0604020202020204"/>
                <a:cs typeface="Arial" panose="020B0604020202020204"/>
              </a:rPr>
              <a:t>learning. The training type </a:t>
            </a:r>
            <a:r>
              <a:rPr sz="1865" dirty="0">
                <a:latin typeface="Arial" panose="020B0604020202020204"/>
                <a:cs typeface="Arial" panose="020B0604020202020204"/>
              </a:rPr>
              <a:t>can </a:t>
            </a:r>
            <a:r>
              <a:rPr sz="1865" spc="-7" dirty="0">
                <a:latin typeface="Arial" panose="020B0604020202020204"/>
                <a:cs typeface="Arial" panose="020B0604020202020204"/>
              </a:rPr>
              <a:t>impact the </a:t>
            </a:r>
            <a:r>
              <a:rPr sz="1865" dirty="0">
                <a:latin typeface="Arial" panose="020B0604020202020204"/>
                <a:cs typeface="Arial" panose="020B0604020202020204"/>
              </a:rPr>
              <a:t>model's capabilities </a:t>
            </a:r>
            <a:r>
              <a:rPr sz="1865" spc="-500" dirty="0">
                <a:latin typeface="Arial" panose="020B0604020202020204"/>
                <a:cs typeface="Arial" panose="020B0604020202020204"/>
              </a:rPr>
              <a:t> </a:t>
            </a:r>
            <a:r>
              <a:rPr sz="1865" spc="-7" dirty="0">
                <a:latin typeface="Arial" panose="020B0604020202020204"/>
                <a:cs typeface="Arial" panose="020B0604020202020204"/>
              </a:rPr>
              <a:t>and generalization across </a:t>
            </a:r>
            <a:r>
              <a:rPr sz="1865" spc="-13" dirty="0">
                <a:latin typeface="Arial" panose="020B0604020202020204"/>
                <a:cs typeface="Arial" panose="020B0604020202020204"/>
              </a:rPr>
              <a:t>different </a:t>
            </a:r>
            <a:r>
              <a:rPr sz="1865" spc="-7" dirty="0">
                <a:latin typeface="Arial" panose="020B0604020202020204"/>
                <a:cs typeface="Arial" panose="020B0604020202020204"/>
              </a:rPr>
              <a:t>tasks. Understanding the training </a:t>
            </a:r>
            <a:r>
              <a:rPr sz="1865" dirty="0">
                <a:latin typeface="Arial" panose="020B0604020202020204"/>
                <a:cs typeface="Arial" panose="020B0604020202020204"/>
              </a:rPr>
              <a:t>methodology </a:t>
            </a:r>
            <a:r>
              <a:rPr sz="1865" spc="-7" dirty="0">
                <a:latin typeface="Arial" panose="020B0604020202020204"/>
                <a:cs typeface="Arial" panose="020B0604020202020204"/>
              </a:rPr>
              <a:t>and evaluating its </a:t>
            </a:r>
            <a:r>
              <a:rPr sz="1865" dirty="0">
                <a:latin typeface="Arial" panose="020B0604020202020204"/>
                <a:cs typeface="Arial" panose="020B0604020202020204"/>
              </a:rPr>
              <a:t> suitability</a:t>
            </a:r>
            <a:r>
              <a:rPr sz="1865" spc="-13" dirty="0">
                <a:latin typeface="Arial" panose="020B0604020202020204"/>
                <a:cs typeface="Arial" panose="020B0604020202020204"/>
              </a:rPr>
              <a:t> </a:t>
            </a:r>
            <a:r>
              <a:rPr sz="1865" spc="-7" dirty="0">
                <a:latin typeface="Arial" panose="020B0604020202020204"/>
                <a:cs typeface="Arial" panose="020B0604020202020204"/>
              </a:rPr>
              <a:t>for </a:t>
            </a:r>
            <a:r>
              <a:rPr sz="1865" dirty="0">
                <a:latin typeface="Arial" panose="020B0604020202020204"/>
                <a:cs typeface="Arial" panose="020B0604020202020204"/>
              </a:rPr>
              <a:t>specific</a:t>
            </a:r>
            <a:r>
              <a:rPr sz="1865" spc="-7" dirty="0">
                <a:latin typeface="Arial" panose="020B0604020202020204"/>
                <a:cs typeface="Arial" panose="020B0604020202020204"/>
              </a:rPr>
              <a:t> use </a:t>
            </a:r>
            <a:r>
              <a:rPr sz="1865" dirty="0">
                <a:latin typeface="Arial" panose="020B0604020202020204"/>
                <a:cs typeface="Arial" panose="020B0604020202020204"/>
              </a:rPr>
              <a:t>cases</a:t>
            </a:r>
            <a:r>
              <a:rPr sz="1865" spc="-7" dirty="0">
                <a:latin typeface="Arial" panose="020B0604020202020204"/>
                <a:cs typeface="Arial" panose="020B0604020202020204"/>
              </a:rPr>
              <a:t> is important.</a:t>
            </a:r>
            <a:endParaRPr sz="1865" dirty="0">
              <a:latin typeface="Arial" panose="020B0604020202020204"/>
              <a:cs typeface="Arial" panose="020B0604020202020204"/>
            </a:endParaRPr>
          </a:p>
          <a:p>
            <a:pPr>
              <a:spcBef>
                <a:spcPts val="15"/>
              </a:spcBef>
              <a:buFont typeface="Arial" panose="020B0604020202020204"/>
              <a:buAutoNum type="arabicPeriod" startAt="3"/>
            </a:pPr>
            <a:endParaRPr sz="1935" dirty="0">
              <a:latin typeface="Arial" panose="020B0604020202020204"/>
              <a:cs typeface="Arial" panose="020B0604020202020204"/>
            </a:endParaRPr>
          </a:p>
          <a:p>
            <a:pPr marL="17145" marR="320040">
              <a:buFont typeface="Arial" panose="020B0604020202020204"/>
              <a:buAutoNum type="arabicPeriod" startAt="3"/>
              <a:tabLst>
                <a:tab pos="280670" algn="l"/>
              </a:tabLst>
            </a:pPr>
            <a:r>
              <a:rPr sz="1865" b="1" spc="-7" dirty="0">
                <a:latin typeface="Arial" panose="020B0604020202020204"/>
                <a:cs typeface="Arial" panose="020B0604020202020204"/>
              </a:rPr>
              <a:t>Inference Speed: </a:t>
            </a:r>
            <a:r>
              <a:rPr sz="1865" spc="-7" dirty="0">
                <a:latin typeface="Arial" panose="020B0604020202020204"/>
                <a:cs typeface="Arial" panose="020B0604020202020204"/>
              </a:rPr>
              <a:t>Inference </a:t>
            </a:r>
            <a:r>
              <a:rPr sz="1865" dirty="0">
                <a:latin typeface="Arial" panose="020B0604020202020204"/>
                <a:cs typeface="Arial" panose="020B0604020202020204"/>
              </a:rPr>
              <a:t>speed </a:t>
            </a:r>
            <a:r>
              <a:rPr sz="1865" spc="-7" dirty="0">
                <a:latin typeface="Arial" panose="020B0604020202020204"/>
                <a:cs typeface="Arial" panose="020B0604020202020204"/>
              </a:rPr>
              <a:t>is </a:t>
            </a:r>
            <a:r>
              <a:rPr sz="1865" dirty="0">
                <a:latin typeface="Arial" panose="020B0604020202020204"/>
                <a:cs typeface="Arial" panose="020B0604020202020204"/>
              </a:rPr>
              <a:t>a crucial </a:t>
            </a:r>
            <a:r>
              <a:rPr sz="1865" spc="-20" dirty="0">
                <a:latin typeface="Arial" panose="020B0604020202020204"/>
                <a:cs typeface="Arial" panose="020B0604020202020204"/>
              </a:rPr>
              <a:t>factor, </a:t>
            </a:r>
            <a:r>
              <a:rPr sz="1865" spc="-7" dirty="0">
                <a:latin typeface="Arial" panose="020B0604020202020204"/>
                <a:cs typeface="Arial" panose="020B0604020202020204"/>
              </a:rPr>
              <a:t>especially in </a:t>
            </a:r>
            <a:r>
              <a:rPr sz="1865" dirty="0">
                <a:latin typeface="Arial" panose="020B0604020202020204"/>
                <a:cs typeface="Arial" panose="020B0604020202020204"/>
              </a:rPr>
              <a:t>real-time </a:t>
            </a:r>
            <a:r>
              <a:rPr sz="1865" spc="-7" dirty="0">
                <a:latin typeface="Arial" panose="020B0604020202020204"/>
                <a:cs typeface="Arial" panose="020B0604020202020204"/>
              </a:rPr>
              <a:t>or latencysensitive </a:t>
            </a:r>
            <a:r>
              <a:rPr sz="1865" dirty="0">
                <a:latin typeface="Arial" panose="020B0604020202020204"/>
                <a:cs typeface="Arial" panose="020B0604020202020204"/>
              </a:rPr>
              <a:t> </a:t>
            </a:r>
            <a:r>
              <a:rPr sz="1865" spc="-7" dirty="0">
                <a:latin typeface="Arial" panose="020B0604020202020204"/>
                <a:cs typeface="Arial" panose="020B0604020202020204"/>
              </a:rPr>
              <a:t>applications. Faster inference </a:t>
            </a:r>
            <a:r>
              <a:rPr sz="1865" dirty="0">
                <a:latin typeface="Arial" panose="020B0604020202020204"/>
                <a:cs typeface="Arial" panose="020B0604020202020204"/>
              </a:rPr>
              <a:t>speeds </a:t>
            </a:r>
            <a:r>
              <a:rPr sz="1865" spc="-7" dirty="0">
                <a:latin typeface="Arial" panose="020B0604020202020204"/>
                <a:cs typeface="Arial" panose="020B0604020202020204"/>
              </a:rPr>
              <a:t>allow for </a:t>
            </a:r>
            <a:r>
              <a:rPr sz="1865" dirty="0">
                <a:latin typeface="Arial" panose="020B0604020202020204"/>
                <a:cs typeface="Arial" panose="020B0604020202020204"/>
              </a:rPr>
              <a:t>more responsive systems </a:t>
            </a:r>
            <a:r>
              <a:rPr sz="1865" spc="-7" dirty="0">
                <a:latin typeface="Arial" panose="020B0604020202020204"/>
                <a:cs typeface="Arial" panose="020B0604020202020204"/>
              </a:rPr>
              <a:t>and better user experiences. </a:t>
            </a:r>
            <a:r>
              <a:rPr sz="1865" spc="-500" dirty="0">
                <a:latin typeface="Arial" panose="020B0604020202020204"/>
                <a:cs typeface="Arial" panose="020B0604020202020204"/>
              </a:rPr>
              <a:t> </a:t>
            </a:r>
            <a:r>
              <a:rPr sz="1865" dirty="0">
                <a:latin typeface="Arial" panose="020B0604020202020204"/>
                <a:cs typeface="Arial" panose="020B0604020202020204"/>
              </a:rPr>
              <a:t>Models</a:t>
            </a:r>
            <a:r>
              <a:rPr sz="1865" spc="-13" dirty="0">
                <a:latin typeface="Arial" panose="020B0604020202020204"/>
                <a:cs typeface="Arial" panose="020B0604020202020204"/>
              </a:rPr>
              <a:t> </a:t>
            </a:r>
            <a:r>
              <a:rPr sz="1865" spc="-7" dirty="0">
                <a:latin typeface="Arial" panose="020B0604020202020204"/>
                <a:cs typeface="Arial" panose="020B0604020202020204"/>
              </a:rPr>
              <a:t>with</a:t>
            </a:r>
            <a:r>
              <a:rPr sz="1865" spc="-13" dirty="0">
                <a:latin typeface="Arial" panose="020B0604020202020204"/>
                <a:cs typeface="Arial" panose="020B0604020202020204"/>
              </a:rPr>
              <a:t> </a:t>
            </a:r>
            <a:r>
              <a:rPr sz="1865" dirty="0">
                <a:latin typeface="Arial" panose="020B0604020202020204"/>
                <a:cs typeface="Arial" panose="020B0604020202020204"/>
              </a:rPr>
              <a:t>smaller</a:t>
            </a:r>
            <a:r>
              <a:rPr sz="1865" spc="-7" dirty="0">
                <a:latin typeface="Arial" panose="020B0604020202020204"/>
                <a:cs typeface="Arial" panose="020B0604020202020204"/>
              </a:rPr>
              <a:t> architectures</a:t>
            </a:r>
            <a:r>
              <a:rPr sz="1865" spc="-13" dirty="0">
                <a:latin typeface="Arial" panose="020B0604020202020204"/>
                <a:cs typeface="Arial" panose="020B0604020202020204"/>
              </a:rPr>
              <a:t> </a:t>
            </a:r>
            <a:r>
              <a:rPr sz="1865" spc="-7" dirty="0">
                <a:latin typeface="Arial" panose="020B0604020202020204"/>
                <a:cs typeface="Arial" panose="020B0604020202020204"/>
              </a:rPr>
              <a:t>or optimized</a:t>
            </a:r>
            <a:r>
              <a:rPr sz="1865" spc="-13" dirty="0">
                <a:latin typeface="Arial" panose="020B0604020202020204"/>
                <a:cs typeface="Arial" panose="020B0604020202020204"/>
              </a:rPr>
              <a:t> </a:t>
            </a:r>
            <a:r>
              <a:rPr sz="1865" spc="-7" dirty="0">
                <a:latin typeface="Arial" panose="020B0604020202020204"/>
                <a:cs typeface="Arial" panose="020B0604020202020204"/>
              </a:rPr>
              <a:t>implementations</a:t>
            </a:r>
            <a:r>
              <a:rPr sz="1865" spc="-13" dirty="0">
                <a:latin typeface="Arial" panose="020B0604020202020204"/>
                <a:cs typeface="Arial" panose="020B0604020202020204"/>
              </a:rPr>
              <a:t> </a:t>
            </a:r>
            <a:r>
              <a:rPr sz="1865" spc="-7" dirty="0">
                <a:latin typeface="Arial" panose="020B0604020202020204"/>
                <a:cs typeface="Arial" panose="020B0604020202020204"/>
              </a:rPr>
              <a:t>tend to</a:t>
            </a:r>
            <a:r>
              <a:rPr sz="1865" spc="-13" dirty="0">
                <a:latin typeface="Arial" panose="020B0604020202020204"/>
                <a:cs typeface="Arial" panose="020B0604020202020204"/>
              </a:rPr>
              <a:t> </a:t>
            </a:r>
            <a:r>
              <a:rPr sz="1865" spc="-7" dirty="0">
                <a:latin typeface="Arial" panose="020B0604020202020204"/>
                <a:cs typeface="Arial" panose="020B0604020202020204"/>
              </a:rPr>
              <a:t>have faster</a:t>
            </a:r>
            <a:r>
              <a:rPr sz="1865" spc="-13" dirty="0">
                <a:latin typeface="Arial" panose="020B0604020202020204"/>
                <a:cs typeface="Arial" panose="020B0604020202020204"/>
              </a:rPr>
              <a:t> </a:t>
            </a:r>
            <a:r>
              <a:rPr sz="1865" spc="-7" dirty="0">
                <a:latin typeface="Arial" panose="020B0604020202020204"/>
                <a:cs typeface="Arial" panose="020B0604020202020204"/>
              </a:rPr>
              <a:t>inference times.</a:t>
            </a:r>
            <a:endParaRPr sz="1865" dirty="0">
              <a:latin typeface="Arial" panose="020B0604020202020204"/>
              <a:cs typeface="Arial" panose="020B0604020202020204"/>
            </a:endParaRPr>
          </a:p>
          <a:p>
            <a:pPr>
              <a:spcBef>
                <a:spcPts val="20"/>
              </a:spcBef>
              <a:buFont typeface="Arial" panose="020B0604020202020204"/>
              <a:buAutoNum type="arabicPeriod" startAt="3"/>
            </a:pPr>
            <a:endParaRPr sz="1935" dirty="0">
              <a:latin typeface="Arial" panose="020B0604020202020204"/>
              <a:cs typeface="Arial" panose="020B0604020202020204"/>
            </a:endParaRPr>
          </a:p>
          <a:p>
            <a:pPr marL="17145" marR="6985">
              <a:buFont typeface="Arial" panose="020B0604020202020204"/>
              <a:buAutoNum type="arabicPeriod" startAt="3"/>
              <a:tabLst>
                <a:tab pos="280670" algn="l"/>
              </a:tabLst>
            </a:pPr>
            <a:r>
              <a:rPr sz="1865" b="1" spc="-7" dirty="0">
                <a:latin typeface="Arial" panose="020B0604020202020204"/>
                <a:cs typeface="Arial" panose="020B0604020202020204"/>
              </a:rPr>
              <a:t>Cost:</a:t>
            </a:r>
            <a:r>
              <a:rPr sz="1865" b="1" spc="47" dirty="0">
                <a:latin typeface="Arial" panose="020B0604020202020204"/>
                <a:cs typeface="Arial" panose="020B0604020202020204"/>
              </a:rPr>
              <a:t> </a:t>
            </a:r>
            <a:r>
              <a:rPr sz="1865" spc="-7" dirty="0">
                <a:latin typeface="Arial" panose="020B0604020202020204"/>
                <a:cs typeface="Arial" panose="020B0604020202020204"/>
              </a:rPr>
              <a:t>The</a:t>
            </a:r>
            <a:r>
              <a:rPr sz="1865" spc="53" dirty="0">
                <a:latin typeface="Arial" panose="020B0604020202020204"/>
                <a:cs typeface="Arial" panose="020B0604020202020204"/>
              </a:rPr>
              <a:t> </a:t>
            </a:r>
            <a:r>
              <a:rPr sz="1865" dirty="0">
                <a:latin typeface="Arial" panose="020B0604020202020204"/>
                <a:cs typeface="Arial" panose="020B0604020202020204"/>
              </a:rPr>
              <a:t>cost</a:t>
            </a:r>
            <a:r>
              <a:rPr sz="1865" spc="53" dirty="0">
                <a:latin typeface="Arial" panose="020B0604020202020204"/>
                <a:cs typeface="Arial" panose="020B0604020202020204"/>
              </a:rPr>
              <a:t> </a:t>
            </a:r>
            <a:r>
              <a:rPr sz="1865" spc="-7" dirty="0">
                <a:latin typeface="Arial" panose="020B0604020202020204"/>
                <a:cs typeface="Arial" panose="020B0604020202020204"/>
              </a:rPr>
              <a:t>of</a:t>
            </a:r>
            <a:r>
              <a:rPr sz="1865" spc="53" dirty="0">
                <a:latin typeface="Arial" panose="020B0604020202020204"/>
                <a:cs typeface="Arial" panose="020B0604020202020204"/>
              </a:rPr>
              <a:t> </a:t>
            </a:r>
            <a:r>
              <a:rPr sz="1865" spc="-7" dirty="0">
                <a:latin typeface="Arial" panose="020B0604020202020204"/>
                <a:cs typeface="Arial" panose="020B0604020202020204"/>
              </a:rPr>
              <a:t>using</a:t>
            </a:r>
            <a:r>
              <a:rPr sz="1865" spc="53" dirty="0">
                <a:latin typeface="Arial" panose="020B0604020202020204"/>
                <a:cs typeface="Arial" panose="020B0604020202020204"/>
              </a:rPr>
              <a:t> </a:t>
            </a:r>
            <a:r>
              <a:rPr sz="1865" dirty="0">
                <a:latin typeface="Arial" panose="020B0604020202020204"/>
                <a:cs typeface="Arial" panose="020B0604020202020204"/>
              </a:rPr>
              <a:t>a</a:t>
            </a:r>
            <a:r>
              <a:rPr sz="1865" spc="53" dirty="0">
                <a:latin typeface="Arial" panose="020B0604020202020204"/>
                <a:cs typeface="Arial" panose="020B0604020202020204"/>
              </a:rPr>
              <a:t> </a:t>
            </a:r>
            <a:r>
              <a:rPr sz="1865" spc="-7" dirty="0">
                <a:latin typeface="Arial" panose="020B0604020202020204"/>
                <a:cs typeface="Arial" panose="020B0604020202020204"/>
              </a:rPr>
              <a:t>particular</a:t>
            </a:r>
            <a:r>
              <a:rPr sz="1865" spc="53" dirty="0">
                <a:latin typeface="Arial" panose="020B0604020202020204"/>
                <a:cs typeface="Arial" panose="020B0604020202020204"/>
              </a:rPr>
              <a:t> </a:t>
            </a:r>
            <a:r>
              <a:rPr sz="1865" spc="-7" dirty="0">
                <a:latin typeface="Arial" panose="020B0604020202020204"/>
                <a:cs typeface="Arial" panose="020B0604020202020204"/>
              </a:rPr>
              <a:t>LLM</a:t>
            </a:r>
            <a:r>
              <a:rPr sz="1865" spc="53" dirty="0">
                <a:latin typeface="Arial" panose="020B0604020202020204"/>
                <a:cs typeface="Arial" panose="020B0604020202020204"/>
              </a:rPr>
              <a:t> </a:t>
            </a:r>
            <a:r>
              <a:rPr sz="1865" spc="-7" dirty="0">
                <a:latin typeface="Arial" panose="020B0604020202020204"/>
                <a:cs typeface="Arial" panose="020B0604020202020204"/>
              </a:rPr>
              <a:t>includes</a:t>
            </a:r>
            <a:r>
              <a:rPr sz="1865" spc="47" dirty="0">
                <a:latin typeface="Arial" panose="020B0604020202020204"/>
                <a:cs typeface="Arial" panose="020B0604020202020204"/>
              </a:rPr>
              <a:t> </a:t>
            </a:r>
            <a:r>
              <a:rPr sz="1865" dirty="0">
                <a:latin typeface="Arial" panose="020B0604020202020204"/>
                <a:cs typeface="Arial" panose="020B0604020202020204"/>
              </a:rPr>
              <a:t>considerations</a:t>
            </a:r>
            <a:r>
              <a:rPr sz="1865" spc="53" dirty="0">
                <a:latin typeface="Arial" panose="020B0604020202020204"/>
                <a:cs typeface="Arial" panose="020B0604020202020204"/>
              </a:rPr>
              <a:t> </a:t>
            </a:r>
            <a:r>
              <a:rPr sz="1865" dirty="0">
                <a:latin typeface="Arial" panose="020B0604020202020204"/>
                <a:cs typeface="Arial" panose="020B0604020202020204"/>
              </a:rPr>
              <a:t>such</a:t>
            </a:r>
            <a:r>
              <a:rPr sz="1865" spc="53" dirty="0">
                <a:latin typeface="Arial" panose="020B0604020202020204"/>
                <a:cs typeface="Arial" panose="020B0604020202020204"/>
              </a:rPr>
              <a:t> </a:t>
            </a:r>
            <a:r>
              <a:rPr sz="1865" spc="-7" dirty="0">
                <a:latin typeface="Arial" panose="020B0604020202020204"/>
                <a:cs typeface="Arial" panose="020B0604020202020204"/>
              </a:rPr>
              <a:t>as</a:t>
            </a:r>
            <a:r>
              <a:rPr sz="1865" spc="53" dirty="0">
                <a:latin typeface="Arial" panose="020B0604020202020204"/>
                <a:cs typeface="Arial" panose="020B0604020202020204"/>
              </a:rPr>
              <a:t> </a:t>
            </a:r>
            <a:r>
              <a:rPr sz="1865" spc="-7" dirty="0">
                <a:latin typeface="Arial" panose="020B0604020202020204"/>
                <a:cs typeface="Arial" panose="020B0604020202020204"/>
              </a:rPr>
              <a:t>licensing</a:t>
            </a:r>
            <a:r>
              <a:rPr sz="1865" spc="53" dirty="0">
                <a:latin typeface="Arial" panose="020B0604020202020204"/>
                <a:cs typeface="Arial" panose="020B0604020202020204"/>
              </a:rPr>
              <a:t> </a:t>
            </a:r>
            <a:r>
              <a:rPr sz="1865" spc="-7" dirty="0">
                <a:latin typeface="Arial" panose="020B0604020202020204"/>
                <a:cs typeface="Arial" panose="020B0604020202020204"/>
              </a:rPr>
              <a:t>fees, </a:t>
            </a:r>
            <a:r>
              <a:rPr sz="1865" dirty="0">
                <a:latin typeface="Arial" panose="020B0604020202020204"/>
                <a:cs typeface="Arial" panose="020B0604020202020204"/>
              </a:rPr>
              <a:t> computational resources required </a:t>
            </a:r>
            <a:r>
              <a:rPr sz="1865" spc="-7" dirty="0">
                <a:latin typeface="Arial" panose="020B0604020202020204"/>
                <a:cs typeface="Arial" panose="020B0604020202020204"/>
              </a:rPr>
              <a:t>for training and inference, and ongoing </a:t>
            </a:r>
            <a:r>
              <a:rPr sz="1865" dirty="0">
                <a:latin typeface="Arial" panose="020B0604020202020204"/>
                <a:cs typeface="Arial" panose="020B0604020202020204"/>
              </a:rPr>
              <a:t>maintenance costs. </a:t>
            </a:r>
            <a:r>
              <a:rPr sz="1865" spc="-7" dirty="0">
                <a:latin typeface="Arial" panose="020B0604020202020204"/>
                <a:cs typeface="Arial" panose="020B0604020202020204"/>
              </a:rPr>
              <a:t>Enterprises </a:t>
            </a:r>
            <a:r>
              <a:rPr sz="1865" spc="-500" dirty="0">
                <a:latin typeface="Arial" panose="020B0604020202020204"/>
                <a:cs typeface="Arial" panose="020B0604020202020204"/>
              </a:rPr>
              <a:t> </a:t>
            </a:r>
            <a:r>
              <a:rPr sz="1865" dirty="0">
                <a:latin typeface="Arial" panose="020B0604020202020204"/>
                <a:cs typeface="Arial" panose="020B0604020202020204"/>
              </a:rPr>
              <a:t>should </a:t>
            </a:r>
            <a:r>
              <a:rPr sz="1865" spc="-7" dirty="0">
                <a:latin typeface="Arial" panose="020B0604020202020204"/>
                <a:cs typeface="Arial" panose="020B0604020202020204"/>
              </a:rPr>
              <a:t>evaluate the </a:t>
            </a:r>
            <a:r>
              <a:rPr sz="1865" dirty="0">
                <a:latin typeface="Arial" panose="020B0604020202020204"/>
                <a:cs typeface="Arial" panose="020B0604020202020204"/>
              </a:rPr>
              <a:t>cost </a:t>
            </a:r>
            <a:r>
              <a:rPr sz="1865" spc="-7" dirty="0">
                <a:latin typeface="Arial" panose="020B0604020202020204"/>
                <a:cs typeface="Arial" panose="020B0604020202020204"/>
              </a:rPr>
              <a:t>implications and ensure that the </a:t>
            </a:r>
            <a:r>
              <a:rPr sz="1865" dirty="0">
                <a:latin typeface="Arial" panose="020B0604020202020204"/>
                <a:cs typeface="Arial" panose="020B0604020202020204"/>
              </a:rPr>
              <a:t>chosen </a:t>
            </a:r>
            <a:r>
              <a:rPr sz="1865" spc="-7" dirty="0">
                <a:latin typeface="Arial" panose="020B0604020202020204"/>
                <a:cs typeface="Arial" panose="020B0604020202020204"/>
              </a:rPr>
              <a:t>LLM aligns with their budget and </a:t>
            </a:r>
            <a:r>
              <a:rPr sz="1865" dirty="0">
                <a:latin typeface="Arial" panose="020B0604020202020204"/>
                <a:cs typeface="Arial" panose="020B0604020202020204"/>
              </a:rPr>
              <a:t>cost </a:t>
            </a:r>
            <a:r>
              <a:rPr sz="1865" spc="7" dirty="0">
                <a:latin typeface="Arial" panose="020B0604020202020204"/>
                <a:cs typeface="Arial" panose="020B0604020202020204"/>
              </a:rPr>
              <a:t> </a:t>
            </a:r>
            <a:r>
              <a:rPr sz="1865" spc="-7" dirty="0">
                <a:latin typeface="Arial" panose="020B0604020202020204"/>
                <a:cs typeface="Arial" panose="020B0604020202020204"/>
              </a:rPr>
              <a:t>expectations.</a:t>
            </a:r>
            <a:endParaRPr sz="1865" dirty="0">
              <a:latin typeface="Arial" panose="020B0604020202020204"/>
              <a:cs typeface="Arial" panose="020B0604020202020204"/>
            </a:endParaRPr>
          </a:p>
        </p:txBody>
      </p:sp>
      <p:sp>
        <p:nvSpPr>
          <p:cNvPr id="4" name="Slide Number Placeholder 3"/>
          <p:cNvSpPr>
            <a:spLocks noGrp="1"/>
          </p:cNvSpPr>
          <p:nvPr>
            <p:ph type="sldNum" sz="quarter" idx="12"/>
          </p:nvPr>
        </p:nvSpPr>
        <p:spPr/>
        <p:txBody>
          <a:bodyPr/>
          <a:lstStyle/>
          <a:p>
            <a:fld id="{5EE24C92-1265-4741-8F9F-404A15D9386E}" type="slidenum">
              <a:rPr lang="en-US" smtClean="0"/>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8960" y="1273533"/>
            <a:ext cx="8310033" cy="632651"/>
          </a:xfrm>
          <a:prstGeom prst="rect">
            <a:avLst/>
          </a:prstGeom>
        </p:spPr>
        <p:txBody>
          <a:bodyPr vert="horz" wrap="square" lIns="0" tIns="16933" rIns="0" bIns="0" rtlCol="0" anchor="ctr">
            <a:spAutoFit/>
          </a:bodyPr>
          <a:lstStyle/>
          <a:p>
            <a:pPr marL="17145">
              <a:lnSpc>
                <a:spcPct val="100000"/>
              </a:lnSpc>
              <a:spcBef>
                <a:spcPts val="135"/>
              </a:spcBef>
            </a:pPr>
            <a:r>
              <a:rPr sz="4000" spc="-40" dirty="0">
                <a:solidFill>
                  <a:srgbClr val="000000"/>
                </a:solidFill>
              </a:rPr>
              <a:t>Technical</a:t>
            </a:r>
            <a:r>
              <a:rPr sz="4000" spc="-27" dirty="0">
                <a:solidFill>
                  <a:srgbClr val="000000"/>
                </a:solidFill>
              </a:rPr>
              <a:t> </a:t>
            </a:r>
            <a:r>
              <a:rPr sz="4000" spc="-7" dirty="0">
                <a:solidFill>
                  <a:srgbClr val="000000"/>
                </a:solidFill>
              </a:rPr>
              <a:t>Factors</a:t>
            </a:r>
            <a:r>
              <a:rPr sz="4000" spc="-27" dirty="0">
                <a:solidFill>
                  <a:srgbClr val="000000"/>
                </a:solidFill>
              </a:rPr>
              <a:t> </a:t>
            </a:r>
            <a:r>
              <a:rPr sz="4000" spc="-7" dirty="0">
                <a:solidFill>
                  <a:srgbClr val="000000"/>
                </a:solidFill>
              </a:rPr>
              <a:t>in</a:t>
            </a:r>
            <a:r>
              <a:rPr sz="4000" spc="-27" dirty="0">
                <a:solidFill>
                  <a:srgbClr val="000000"/>
                </a:solidFill>
              </a:rPr>
              <a:t> </a:t>
            </a:r>
            <a:r>
              <a:rPr sz="4000" spc="-7" dirty="0">
                <a:solidFill>
                  <a:srgbClr val="000000"/>
                </a:solidFill>
              </a:rPr>
              <a:t>choosing</a:t>
            </a:r>
            <a:r>
              <a:rPr sz="4000" spc="-27" dirty="0">
                <a:solidFill>
                  <a:srgbClr val="000000"/>
                </a:solidFill>
              </a:rPr>
              <a:t> </a:t>
            </a:r>
            <a:r>
              <a:rPr sz="4000" dirty="0">
                <a:solidFill>
                  <a:srgbClr val="000000"/>
                </a:solidFill>
              </a:rPr>
              <a:t>a</a:t>
            </a:r>
            <a:r>
              <a:rPr sz="4000" spc="-20" dirty="0">
                <a:solidFill>
                  <a:srgbClr val="000000"/>
                </a:solidFill>
              </a:rPr>
              <a:t> </a:t>
            </a:r>
            <a:r>
              <a:rPr sz="4000" spc="-7" dirty="0">
                <a:solidFill>
                  <a:srgbClr val="000000"/>
                </a:solidFill>
              </a:rPr>
              <a:t>LLM</a:t>
            </a:r>
            <a:endParaRPr sz="4000" dirty="0"/>
          </a:p>
        </p:txBody>
      </p:sp>
      <p:sp>
        <p:nvSpPr>
          <p:cNvPr id="3" name="object 3"/>
          <p:cNvSpPr txBox="1">
            <a:spLocks noGrp="1"/>
          </p:cNvSpPr>
          <p:nvPr>
            <p:ph type="body" idx="1"/>
          </p:nvPr>
        </p:nvSpPr>
        <p:spPr>
          <a:xfrm>
            <a:off x="375920" y="2302087"/>
            <a:ext cx="10546080" cy="4011930"/>
          </a:xfrm>
          <a:prstGeom prst="rect">
            <a:avLst/>
          </a:prstGeom>
        </p:spPr>
        <p:txBody>
          <a:bodyPr vert="horz" wrap="square" lIns="0" tIns="16933" rIns="0" bIns="0" rtlCol="0">
            <a:spAutoFit/>
          </a:bodyPr>
          <a:lstStyle/>
          <a:p>
            <a:pPr marL="88900" marR="528320">
              <a:lnSpc>
                <a:spcPct val="100000"/>
              </a:lnSpc>
              <a:spcBef>
                <a:spcPts val="135"/>
              </a:spcBef>
              <a:buFont typeface="Arial" panose="020B0604020202020204"/>
              <a:buAutoNum type="arabicPeriod" startAt="6"/>
              <a:tabLst>
                <a:tab pos="352425" algn="l"/>
              </a:tabLst>
            </a:pPr>
            <a:r>
              <a:rPr sz="1865" b="1" dirty="0">
                <a:solidFill>
                  <a:srgbClr val="0D0D0D"/>
                </a:solidFill>
                <a:latin typeface="Arial" panose="020B0604020202020204"/>
                <a:cs typeface="Arial" panose="020B0604020202020204"/>
              </a:rPr>
              <a:t>Fine-tunability</a:t>
            </a:r>
            <a:r>
              <a:rPr sz="1865" dirty="0">
                <a:solidFill>
                  <a:srgbClr val="0D0D0D"/>
                </a:solidFill>
                <a:latin typeface="Arial" panose="020B0604020202020204"/>
                <a:cs typeface="Arial" panose="020B0604020202020204"/>
              </a:rPr>
              <a:t>: The ability to fine-tune the model to adapt it to specific use cases is valuable.  Enterprises should consider the level of fine-tuning flexibility and the availability of resources and  documentation for this process. Some models may offer more extensive fine-tuning capabilities than  others.</a:t>
            </a:r>
            <a:endParaRPr sz="1865" dirty="0">
              <a:solidFill>
                <a:srgbClr val="0D0D0D"/>
              </a:solidFill>
              <a:latin typeface="Arial" panose="020B0604020202020204"/>
              <a:cs typeface="Arial" panose="020B0604020202020204"/>
            </a:endParaRPr>
          </a:p>
          <a:p>
            <a:pPr marL="71755">
              <a:lnSpc>
                <a:spcPct val="100000"/>
              </a:lnSpc>
              <a:spcBef>
                <a:spcPts val="15"/>
              </a:spcBef>
              <a:buFont typeface="Arial" panose="020B0604020202020204"/>
              <a:buAutoNum type="arabicPeriod" startAt="6"/>
            </a:pPr>
            <a:endParaRPr sz="1865" dirty="0">
              <a:solidFill>
                <a:srgbClr val="0D0D0D"/>
              </a:solidFill>
              <a:latin typeface="Arial" panose="020B0604020202020204"/>
              <a:cs typeface="Arial" panose="020B0604020202020204"/>
            </a:endParaRPr>
          </a:p>
          <a:p>
            <a:pPr marL="88900" marR="6985">
              <a:lnSpc>
                <a:spcPct val="100000"/>
              </a:lnSpc>
              <a:buFont typeface="Arial" panose="020B0604020202020204"/>
              <a:buAutoNum type="arabicPeriod" startAt="6"/>
              <a:tabLst>
                <a:tab pos="352425" algn="l"/>
              </a:tabLst>
            </a:pPr>
            <a:r>
              <a:rPr sz="1865" b="1" dirty="0">
                <a:solidFill>
                  <a:srgbClr val="0D0D0D"/>
                </a:solidFill>
                <a:latin typeface="Arial" panose="020B0604020202020204"/>
                <a:cs typeface="Arial" panose="020B0604020202020204"/>
              </a:rPr>
              <a:t>Data Security</a:t>
            </a:r>
            <a:r>
              <a:rPr sz="1865" dirty="0">
                <a:solidFill>
                  <a:srgbClr val="0D0D0D"/>
                </a:solidFill>
                <a:latin typeface="Arial" panose="020B0604020202020204"/>
                <a:cs typeface="Arial" panose="020B0604020202020204"/>
              </a:rPr>
              <a:t>: Data security is of paramount importance when working with LLMs. Enterprises should  assess the data security practices of the provider, including encryption methods, access controls, and  compliance with privacy regulations. Protecting sensitive data and ensuring secure handling and storage  is crucial.</a:t>
            </a:r>
            <a:endParaRPr sz="1865" dirty="0">
              <a:solidFill>
                <a:srgbClr val="0D0D0D"/>
              </a:solidFill>
              <a:latin typeface="Arial" panose="020B0604020202020204"/>
              <a:cs typeface="Arial" panose="020B0604020202020204"/>
            </a:endParaRPr>
          </a:p>
          <a:p>
            <a:pPr marL="71755">
              <a:lnSpc>
                <a:spcPct val="100000"/>
              </a:lnSpc>
              <a:spcBef>
                <a:spcPts val="20"/>
              </a:spcBef>
            </a:pPr>
            <a:endParaRPr sz="1865" dirty="0">
              <a:solidFill>
                <a:srgbClr val="0D0D0D"/>
              </a:solidFill>
              <a:latin typeface="Arial" panose="020B0604020202020204"/>
              <a:cs typeface="Arial" panose="020B0604020202020204"/>
            </a:endParaRPr>
          </a:p>
          <a:p>
            <a:pPr marL="88900" marR="520700">
              <a:lnSpc>
                <a:spcPct val="100000"/>
              </a:lnSpc>
            </a:pPr>
            <a:r>
              <a:rPr sz="1865" b="1" u="sng" dirty="0">
                <a:solidFill>
                  <a:srgbClr val="0D0D0D"/>
                </a:solidFill>
                <a:highlight>
                  <a:srgbClr val="FFFF00"/>
                </a:highlight>
                <a:latin typeface="Arial" panose="020B0604020202020204"/>
                <a:cs typeface="Arial" panose="020B0604020202020204"/>
              </a:rPr>
              <a:t>While all the factors mentioned pose their own challenges, one of the biggest challenges currently is  striking the right balance between model performance and computational resources.</a:t>
            </a:r>
            <a:endParaRPr sz="1865" b="1" u="sng" dirty="0">
              <a:solidFill>
                <a:srgbClr val="0D0D0D"/>
              </a:solidFill>
              <a:highlight>
                <a:srgbClr val="FFFF00"/>
              </a:highlight>
              <a:latin typeface="Arial" panose="020B0604020202020204"/>
              <a:cs typeface="Arial" panose="020B0604020202020204"/>
            </a:endParaRPr>
          </a:p>
        </p:txBody>
      </p:sp>
      <p:sp>
        <p:nvSpPr>
          <p:cNvPr id="4" name="Slide Number Placeholder 3"/>
          <p:cNvSpPr>
            <a:spLocks noGrp="1"/>
          </p:cNvSpPr>
          <p:nvPr>
            <p:ph type="sldNum" sz="quarter" idx="12"/>
          </p:nvPr>
        </p:nvSpPr>
        <p:spPr/>
        <p:txBody>
          <a:bodyPr/>
          <a:lstStyle/>
          <a:p>
            <a:fld id="{5EE24C92-1265-4741-8F9F-404A15D9386E}" type="slidenum">
              <a:rPr lang="en-US" smtClean="0"/>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Closed or open source?</a:t>
            </a:r>
            <a:endParaRPr lang="en-US"/>
          </a:p>
        </p:txBody>
      </p:sp>
      <p:sp>
        <p:nvSpPr>
          <p:cNvPr id="4" name="Text Placeholder 3"/>
          <p:cNvSpPr>
            <a:spLocks noGrp="1"/>
          </p:cNvSpPr>
          <p:nvPr>
            <p:ph type="body" idx="1"/>
          </p:nvPr>
        </p:nvSpPr>
        <p:spPr/>
        <p:txBody>
          <a:bodyPr/>
          <a:p>
            <a:r>
              <a:rPr lang="en-US"/>
              <a:t>Closed-source</a:t>
            </a:r>
            <a:endParaRPr lang="en-US"/>
          </a:p>
        </p:txBody>
      </p:sp>
      <p:sp>
        <p:nvSpPr>
          <p:cNvPr id="5" name="Content Placeholder 4"/>
          <p:cNvSpPr>
            <a:spLocks noGrp="1"/>
          </p:cNvSpPr>
          <p:nvPr>
            <p:ph sz="half" idx="2"/>
          </p:nvPr>
        </p:nvSpPr>
        <p:spPr/>
        <p:txBody>
          <a:bodyPr/>
          <a:p>
            <a:r>
              <a:rPr lang="en-US"/>
              <a:t>Easy to use in applications</a:t>
            </a:r>
            <a:endParaRPr lang="en-US"/>
          </a:p>
          <a:p>
            <a:r>
              <a:rPr lang="en-US"/>
              <a:t>More large/powerful models</a:t>
            </a:r>
            <a:endParaRPr lang="en-US"/>
          </a:p>
          <a:p>
            <a:r>
              <a:rPr lang="en-US"/>
              <a:t>Relatively inexpensive</a:t>
            </a:r>
            <a:endParaRPr lang="en-US"/>
          </a:p>
          <a:p>
            <a:r>
              <a:rPr lang="en-US"/>
              <a:t>Some risk of vendor lock-in</a:t>
            </a:r>
            <a:endParaRPr lang="en-US"/>
          </a:p>
        </p:txBody>
      </p:sp>
      <p:sp>
        <p:nvSpPr>
          <p:cNvPr id="6" name="Text Placeholder 5"/>
          <p:cNvSpPr>
            <a:spLocks noGrp="1"/>
          </p:cNvSpPr>
          <p:nvPr>
            <p:ph type="body" sz="quarter" idx="3"/>
          </p:nvPr>
        </p:nvSpPr>
        <p:spPr/>
        <p:txBody>
          <a:bodyPr/>
          <a:p>
            <a:r>
              <a:rPr lang="en-US"/>
              <a:t>Open-source</a:t>
            </a:r>
            <a:endParaRPr lang="en-US"/>
          </a:p>
        </p:txBody>
      </p:sp>
      <p:sp>
        <p:nvSpPr>
          <p:cNvPr id="7" name="Content Placeholder 6"/>
          <p:cNvSpPr>
            <a:spLocks noGrp="1"/>
          </p:cNvSpPr>
          <p:nvPr>
            <p:ph sz="quarter" idx="4"/>
          </p:nvPr>
        </p:nvSpPr>
        <p:spPr/>
        <p:txBody>
          <a:bodyPr/>
          <a:p>
            <a:r>
              <a:rPr lang="en-US"/>
              <a:t> Full control over model</a:t>
            </a:r>
            <a:endParaRPr lang="en-US"/>
          </a:p>
          <a:p>
            <a:r>
              <a:rPr lang="en-US"/>
              <a:t>Can run on your own device (on-prem, PC, etc.)</a:t>
            </a:r>
            <a:endParaRPr lang="en-US"/>
          </a:p>
          <a:p>
            <a:r>
              <a:rPr lang="en-US"/>
              <a:t>Full control over data privacy/access</a:t>
            </a:r>
            <a:endParaRPr lang="en-US"/>
          </a:p>
        </p:txBody>
      </p:sp>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Title 7"/>
          <p:cNvSpPr>
            <a:spLocks noGrp="1"/>
          </p:cNvSpPr>
          <p:nvPr>
            <p:ph type="title"/>
          </p:nvPr>
        </p:nvSpPr>
        <p:spPr/>
        <p:txBody>
          <a:bodyPr/>
          <a:p>
            <a:r>
              <a:rPr lang="en-US" altLang="en-GB"/>
              <a:t>LLM Capabilities</a:t>
            </a:r>
            <a:endParaRPr lang="en-US" altLang="en-GB"/>
          </a:p>
        </p:txBody>
      </p:sp>
      <p:sp>
        <p:nvSpPr>
          <p:cNvPr id="9" name="Text Placeholder 8"/>
          <p:cNvSpPr>
            <a:spLocks noGrp="1"/>
          </p:cNvSpPr>
          <p:nvPr>
            <p:ph type="body" idx="1"/>
          </p:nvPr>
        </p:nvSpPr>
        <p:spPr/>
        <p:txBody>
          <a:bodyPr/>
          <a:p>
            <a:endParaRPr lang="en-GB" alt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Summarizing an article</a:t>
            </a:r>
            <a:endParaRPr lang="en-US"/>
          </a:p>
        </p:txBody>
      </p:sp>
      <p:pic>
        <p:nvPicPr>
          <p:cNvPr id="4" name="Content Placeholder 3"/>
          <p:cNvPicPr>
            <a:picLocks noChangeAspect="1"/>
          </p:cNvPicPr>
          <p:nvPr>
            <p:ph idx="1"/>
          </p:nvPr>
        </p:nvPicPr>
        <p:blipFill>
          <a:blip r:embed="rId1"/>
          <a:stretch>
            <a:fillRect/>
          </a:stretch>
        </p:blipFill>
        <p:spPr>
          <a:xfrm>
            <a:off x="1454785" y="1825625"/>
            <a:ext cx="9281160" cy="4351655"/>
          </a:xfrm>
          <a:prstGeom prst="rect">
            <a:avLst/>
          </a:prstGeom>
        </p:spPr>
      </p:pic>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Meeting Copliot recap in MS Teams  </a:t>
            </a:r>
            <a:endParaRPr lang="en-US"/>
          </a:p>
        </p:txBody>
      </p:sp>
      <p:pic>
        <p:nvPicPr>
          <p:cNvPr id="105" name="Picture 104"/>
          <p:cNvPicPr/>
          <p:nvPr/>
        </p:nvPicPr>
        <p:blipFill>
          <a:blip r:embed="rId1"/>
          <a:stretch>
            <a:fillRect/>
          </a:stretch>
        </p:blipFill>
        <p:spPr>
          <a:xfrm>
            <a:off x="1307465" y="1691005"/>
            <a:ext cx="9000490" cy="4676775"/>
          </a:xfrm>
          <a:prstGeom prst="rect">
            <a:avLst/>
          </a:prstGeom>
          <a:noFill/>
          <a:ln w="9525">
            <a:noFill/>
          </a:ln>
        </p:spPr>
      </p:pic>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Summarizing call center conversations</a:t>
            </a:r>
            <a:endParaRPr lang="en-US"/>
          </a:p>
        </p:txBody>
      </p:sp>
      <p:pic>
        <p:nvPicPr>
          <p:cNvPr id="4" name="Content Placeholder 3"/>
          <p:cNvPicPr>
            <a:picLocks noChangeAspect="1"/>
          </p:cNvPicPr>
          <p:nvPr>
            <p:ph idx="1"/>
          </p:nvPr>
        </p:nvPicPr>
        <p:blipFill>
          <a:blip r:embed="rId1"/>
          <a:stretch>
            <a:fillRect/>
          </a:stretch>
        </p:blipFill>
        <p:spPr>
          <a:xfrm>
            <a:off x="1195705" y="1825625"/>
            <a:ext cx="9799320" cy="4351655"/>
          </a:xfrm>
          <a:prstGeom prst="rect">
            <a:avLst/>
          </a:prstGeom>
        </p:spPr>
      </p:pic>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Summarizing conversations</a:t>
            </a:r>
            <a:endParaRPr lang="en-US"/>
          </a:p>
        </p:txBody>
      </p:sp>
      <p:pic>
        <p:nvPicPr>
          <p:cNvPr id="4" name="Content Placeholder 3"/>
          <p:cNvPicPr>
            <a:picLocks noChangeAspect="1"/>
          </p:cNvPicPr>
          <p:nvPr>
            <p:ph idx="1"/>
          </p:nvPr>
        </p:nvPicPr>
        <p:blipFill>
          <a:blip r:embed="rId1"/>
          <a:stretch>
            <a:fillRect/>
          </a:stretch>
        </p:blipFill>
        <p:spPr>
          <a:xfrm>
            <a:off x="838200" y="1860550"/>
            <a:ext cx="10515600" cy="4280535"/>
          </a:xfrm>
          <a:prstGeom prst="rect">
            <a:avLst/>
          </a:prstGeom>
        </p:spPr>
      </p:pic>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Summarizing call center conversations</a:t>
            </a:r>
            <a:endParaRPr lang="en-US"/>
          </a:p>
        </p:txBody>
      </p:sp>
      <p:pic>
        <p:nvPicPr>
          <p:cNvPr id="4" name="Content Placeholder 3"/>
          <p:cNvPicPr>
            <a:picLocks noChangeAspect="1"/>
          </p:cNvPicPr>
          <p:nvPr>
            <p:ph idx="1"/>
          </p:nvPr>
        </p:nvPicPr>
        <p:blipFill>
          <a:blip r:embed="rId1"/>
          <a:stretch>
            <a:fillRect/>
          </a:stretch>
        </p:blipFill>
        <p:spPr>
          <a:xfrm>
            <a:off x="838200" y="1908175"/>
            <a:ext cx="10515600" cy="4185285"/>
          </a:xfrm>
          <a:prstGeom prst="rect">
            <a:avLst/>
          </a:prstGeom>
        </p:spPr>
      </p:pic>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Customer email analysis</a:t>
            </a:r>
            <a:endParaRPr lang="en-US"/>
          </a:p>
        </p:txBody>
      </p:sp>
      <p:pic>
        <p:nvPicPr>
          <p:cNvPr id="4" name="Content Placeholder 3"/>
          <p:cNvPicPr>
            <a:picLocks noChangeAspect="1"/>
          </p:cNvPicPr>
          <p:nvPr>
            <p:ph idx="1"/>
          </p:nvPr>
        </p:nvPicPr>
        <p:blipFill>
          <a:blip r:embed="rId1"/>
          <a:stretch>
            <a:fillRect/>
          </a:stretch>
        </p:blipFill>
        <p:spPr>
          <a:xfrm>
            <a:off x="3180715" y="2496185"/>
            <a:ext cx="5829300" cy="3009900"/>
          </a:xfrm>
          <a:prstGeom prst="rect">
            <a:avLst/>
          </a:prstGeom>
        </p:spPr>
      </p:pic>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Detailed look at email routing prompt</a:t>
            </a:r>
            <a:endParaRPr lang="en-US"/>
          </a:p>
        </p:txBody>
      </p:sp>
      <p:pic>
        <p:nvPicPr>
          <p:cNvPr id="4" name="Content Placeholder 3"/>
          <p:cNvPicPr>
            <a:picLocks noChangeAspect="1"/>
          </p:cNvPicPr>
          <p:nvPr>
            <p:ph idx="1"/>
          </p:nvPr>
        </p:nvPicPr>
        <p:blipFill>
          <a:blip r:embed="rId1"/>
          <a:stretch>
            <a:fillRect/>
          </a:stretch>
        </p:blipFill>
        <p:spPr>
          <a:xfrm>
            <a:off x="986155" y="1913255"/>
            <a:ext cx="10218420" cy="4175760"/>
          </a:xfrm>
          <a:prstGeom prst="rect">
            <a:avLst/>
          </a:prstGeom>
        </p:spPr>
      </p:pic>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t>Dashboard to track customer sentiment over time</a:t>
            </a:r>
            <a:endParaRPr lang="en-US"/>
          </a:p>
        </p:txBody>
      </p:sp>
      <p:pic>
        <p:nvPicPr>
          <p:cNvPr id="4" name="Content Placeholder 3"/>
          <p:cNvPicPr>
            <a:picLocks noChangeAspect="1"/>
          </p:cNvPicPr>
          <p:nvPr>
            <p:ph idx="1"/>
          </p:nvPr>
        </p:nvPicPr>
        <p:blipFill>
          <a:blip r:embed="rId1"/>
          <a:stretch>
            <a:fillRect/>
          </a:stretch>
        </p:blipFill>
        <p:spPr>
          <a:xfrm>
            <a:off x="838200" y="2309495"/>
            <a:ext cx="10515600" cy="3383280"/>
          </a:xfrm>
          <a:prstGeom prst="rect">
            <a:avLst/>
          </a:prstGeom>
        </p:spPr>
      </p:pic>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LLM as reasoning engine</a:t>
            </a:r>
            <a:endParaRPr lang="en-US"/>
          </a:p>
        </p:txBody>
      </p:sp>
      <p:sp>
        <p:nvSpPr>
          <p:cNvPr id="3" name="Content Placeholder 2"/>
          <p:cNvSpPr>
            <a:spLocks noGrp="1"/>
          </p:cNvSpPr>
          <p:nvPr>
            <p:ph idx="1"/>
          </p:nvPr>
        </p:nvSpPr>
        <p:spPr/>
        <p:txBody>
          <a:bodyPr/>
          <a:p>
            <a:r>
              <a:rPr lang="en-US"/>
              <a:t>LLMs have a lot of general knowledge, but they don’t know everything</a:t>
            </a:r>
            <a:endParaRPr lang="en-US"/>
          </a:p>
          <a:p>
            <a:r>
              <a:rPr lang="en-US"/>
              <a:t>By providing relevant context in the prompt, we ask an LLM to read a piece of text, then process it to get an answer</a:t>
            </a:r>
            <a:endParaRPr lang="en-US"/>
          </a:p>
          <a:p>
            <a:r>
              <a:rPr lang="en-US"/>
              <a:t>We’re using it as a reasoning engine to process information, rather than using it as a source of information</a:t>
            </a:r>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sym typeface="+mn-ea"/>
              </a:rPr>
              <a:t>What LLMs can and cannot do</a:t>
            </a:r>
            <a:endParaRPr lang="en-US"/>
          </a:p>
        </p:txBody>
      </p:sp>
      <p:sp>
        <p:nvSpPr>
          <p:cNvPr id="5" name="Text Placeholder 4"/>
          <p:cNvSpPr>
            <a:spLocks noGrp="1"/>
          </p:cNvSpPr>
          <p:nvPr>
            <p:ph type="body" idx="1"/>
          </p:nvPr>
        </p:nvSpPr>
        <p:spPr/>
        <p:txBody>
          <a:bodyPr/>
          <a:p>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What LLMs are Good vs Bad at</a:t>
            </a:r>
            <a:endParaRPr lang="en-US"/>
          </a:p>
        </p:txBody>
      </p:sp>
      <p:sp>
        <p:nvSpPr>
          <p:cNvPr id="4" name="Text Placeholder 3"/>
          <p:cNvSpPr>
            <a:spLocks noGrp="1"/>
          </p:cNvSpPr>
          <p:nvPr>
            <p:ph type="body" idx="1"/>
          </p:nvPr>
        </p:nvSpPr>
        <p:spPr/>
        <p:txBody>
          <a:bodyPr/>
          <a:p>
            <a:r>
              <a:rPr lang="en-US"/>
              <a:t>LLMs are good at </a:t>
            </a:r>
            <a:endParaRPr lang="en-US"/>
          </a:p>
        </p:txBody>
      </p:sp>
      <p:sp>
        <p:nvSpPr>
          <p:cNvPr id="5" name="Content Placeholder 4"/>
          <p:cNvSpPr>
            <a:spLocks noGrp="1"/>
          </p:cNvSpPr>
          <p:nvPr>
            <p:ph sz="half" idx="2"/>
          </p:nvPr>
        </p:nvSpPr>
        <p:spPr/>
        <p:txBody>
          <a:bodyPr>
            <a:noAutofit/>
          </a:bodyPr>
          <a:p>
            <a:r>
              <a:rPr lang="en-US" sz="1800"/>
              <a:t>Language translation</a:t>
            </a:r>
            <a:endParaRPr lang="en-US" sz="1800"/>
          </a:p>
          <a:p>
            <a:r>
              <a:rPr lang="en-US" sz="1800"/>
              <a:t>Content summarization</a:t>
            </a:r>
            <a:endParaRPr lang="en-US" sz="1800"/>
          </a:p>
          <a:p>
            <a:r>
              <a:rPr lang="en-US" sz="1800"/>
              <a:t>Content generation</a:t>
            </a:r>
            <a:endParaRPr lang="en-US" sz="1800"/>
          </a:p>
          <a:p>
            <a:r>
              <a:rPr lang="en-US" sz="1800"/>
              <a:t>Writing support</a:t>
            </a:r>
            <a:endParaRPr lang="en-US" sz="1800"/>
          </a:p>
          <a:p>
            <a:r>
              <a:rPr lang="en-US" sz="1800"/>
              <a:t>Question answering</a:t>
            </a:r>
            <a:endParaRPr lang="en-US" sz="1800"/>
          </a:p>
          <a:p>
            <a:r>
              <a:rPr lang="en-US" sz="1800"/>
              <a:t>Correcting spelling and grammar</a:t>
            </a:r>
            <a:endParaRPr lang="en-US" sz="1800"/>
          </a:p>
          <a:p>
            <a:r>
              <a:rPr lang="en-US" sz="1800"/>
              <a:t>Programming support</a:t>
            </a:r>
            <a:endParaRPr lang="en-US" sz="1800"/>
          </a:p>
          <a:p>
            <a:r>
              <a:rPr lang="en-US" sz="1800"/>
              <a:t>Classification (spam detection)</a:t>
            </a:r>
            <a:endParaRPr lang="en-US" sz="1800"/>
          </a:p>
          <a:p>
            <a:r>
              <a:rPr lang="en-US" sz="1800"/>
              <a:t>Simplifying complex content</a:t>
            </a:r>
            <a:endParaRPr lang="en-US" sz="1800"/>
          </a:p>
          <a:p>
            <a:r>
              <a:rPr lang="en-US" sz="1800"/>
              <a:t>Stylized writing </a:t>
            </a:r>
            <a:endParaRPr lang="en-US" sz="1800"/>
          </a:p>
          <a:p>
            <a:r>
              <a:rPr lang="en-US" sz="1800"/>
              <a:t>Sentiment analysis</a:t>
            </a:r>
            <a:endParaRPr lang="en-US" sz="1800"/>
          </a:p>
        </p:txBody>
      </p:sp>
      <p:sp>
        <p:nvSpPr>
          <p:cNvPr id="6" name="Text Placeholder 5"/>
          <p:cNvSpPr>
            <a:spLocks noGrp="1"/>
          </p:cNvSpPr>
          <p:nvPr>
            <p:ph type="body" sz="quarter" idx="3"/>
          </p:nvPr>
        </p:nvSpPr>
        <p:spPr/>
        <p:txBody>
          <a:bodyPr/>
          <a:p>
            <a:r>
              <a:rPr lang="en-US"/>
              <a:t>LLMs are bad at </a:t>
            </a:r>
            <a:endParaRPr lang="en-US"/>
          </a:p>
        </p:txBody>
      </p:sp>
      <p:sp>
        <p:nvSpPr>
          <p:cNvPr id="7" name="Content Placeholder 6"/>
          <p:cNvSpPr>
            <a:spLocks noGrp="1"/>
          </p:cNvSpPr>
          <p:nvPr>
            <p:ph sz="quarter" idx="4"/>
          </p:nvPr>
        </p:nvSpPr>
        <p:spPr/>
        <p:txBody>
          <a:bodyPr>
            <a:noAutofit/>
          </a:bodyPr>
          <a:p>
            <a:r>
              <a:rPr lang="en-US" sz="1800"/>
              <a:t>Current events</a:t>
            </a:r>
            <a:endParaRPr lang="en-US" sz="1800"/>
          </a:p>
          <a:p>
            <a:r>
              <a:rPr lang="en-US" sz="1800"/>
              <a:t>Common sense</a:t>
            </a:r>
            <a:endParaRPr lang="en-US" sz="1800"/>
          </a:p>
          <a:p>
            <a:r>
              <a:rPr lang="en-US" sz="1800"/>
              <a:t>Math/counting</a:t>
            </a:r>
            <a:endParaRPr lang="en-US" sz="1800"/>
          </a:p>
          <a:p>
            <a:r>
              <a:rPr lang="en-US" sz="1800"/>
              <a:t>Handling uncommon scenarios</a:t>
            </a:r>
            <a:endParaRPr lang="en-US" sz="1800"/>
          </a:p>
          <a:p>
            <a:r>
              <a:rPr lang="en-US" sz="1800"/>
              <a:t>Consistency</a:t>
            </a:r>
            <a:endParaRPr lang="en-US" sz="1800"/>
          </a:p>
          <a:p>
            <a:r>
              <a:rPr lang="en-US" sz="1800"/>
              <a:t>High-level strategy</a:t>
            </a:r>
            <a:endParaRPr lang="en-US" sz="1800"/>
          </a:p>
          <a:p>
            <a:r>
              <a:rPr lang="en-US" sz="1800"/>
              <a:t>Being factual 100% of the time</a:t>
            </a:r>
            <a:endParaRPr lang="en-US" sz="1800"/>
          </a:p>
          <a:p>
            <a:r>
              <a:rPr lang="en-US" sz="1800"/>
              <a:t>Reasoning &amp; logic</a:t>
            </a:r>
            <a:endParaRPr lang="en-US" sz="1800"/>
          </a:p>
          <a:p>
            <a:r>
              <a:rPr lang="en-US" sz="1800"/>
              <a:t>Emotional intelligence</a:t>
            </a:r>
            <a:endParaRPr lang="en-US" sz="1800"/>
          </a:p>
          <a:p>
            <a:r>
              <a:rPr lang="en-US" sz="1800"/>
              <a:t>Representing minorities</a:t>
            </a:r>
            <a:endParaRPr lang="en-US" sz="1800"/>
          </a:p>
          <a:p>
            <a:r>
              <a:rPr lang="en-US" sz="1800"/>
              <a:t>Extended recall/memory</a:t>
            </a:r>
            <a:endParaRPr lang="en-US" sz="1800"/>
          </a:p>
        </p:txBody>
      </p:sp>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sym typeface="+mn-ea"/>
              </a:rPr>
              <a:t>LLMs are bad at current events:</a:t>
            </a:r>
            <a:br>
              <a:rPr lang="en-US">
                <a:sym typeface="+mn-ea"/>
              </a:rPr>
            </a:br>
            <a:r>
              <a:rPr lang="en-US"/>
              <a:t>Knowledge cut-offs in LLMs</a:t>
            </a:r>
            <a:endParaRPr lang="en-US"/>
          </a:p>
        </p:txBody>
      </p:sp>
      <p:pic>
        <p:nvPicPr>
          <p:cNvPr id="4" name="Content Placeholder 3"/>
          <p:cNvPicPr>
            <a:picLocks noChangeAspect="1"/>
          </p:cNvPicPr>
          <p:nvPr>
            <p:ph idx="1"/>
          </p:nvPr>
        </p:nvPicPr>
        <p:blipFill>
          <a:blip r:embed="rId1"/>
          <a:stretch>
            <a:fillRect/>
          </a:stretch>
        </p:blipFill>
        <p:spPr>
          <a:xfrm>
            <a:off x="838200" y="2400300"/>
            <a:ext cx="10515600" cy="3201035"/>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Making things up: Hallucinations</a:t>
            </a:r>
            <a:endParaRPr lang="en-US"/>
          </a:p>
        </p:txBody>
      </p:sp>
      <p:pic>
        <p:nvPicPr>
          <p:cNvPr id="4" name="Content Placeholder 3"/>
          <p:cNvPicPr>
            <a:picLocks noChangeAspect="1"/>
          </p:cNvPicPr>
          <p:nvPr>
            <p:ph idx="1"/>
          </p:nvPr>
        </p:nvPicPr>
        <p:blipFill>
          <a:blip r:embed="rId1"/>
          <a:stretch>
            <a:fillRect/>
          </a:stretch>
        </p:blipFill>
        <p:spPr>
          <a:xfrm>
            <a:off x="838200" y="2159635"/>
            <a:ext cx="10515600" cy="3683000"/>
          </a:xfrm>
          <a:prstGeom prst="rect">
            <a:avLst/>
          </a:prstGeom>
        </p:spPr>
      </p:pic>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Making things up: Hallucinations</a:t>
            </a:r>
            <a:endParaRPr lang="en-US"/>
          </a:p>
        </p:txBody>
      </p:sp>
      <p:pic>
        <p:nvPicPr>
          <p:cNvPr id="4" name="Content Placeholder 3"/>
          <p:cNvPicPr>
            <a:picLocks noChangeAspect="1"/>
          </p:cNvPicPr>
          <p:nvPr>
            <p:ph idx="1"/>
          </p:nvPr>
        </p:nvPicPr>
        <p:blipFill>
          <a:blip r:embed="rId1"/>
          <a:stretch>
            <a:fillRect/>
          </a:stretch>
        </p:blipFill>
        <p:spPr>
          <a:xfrm>
            <a:off x="838200" y="2275205"/>
            <a:ext cx="10515600" cy="3451225"/>
          </a:xfrm>
          <a:prstGeom prst="rect">
            <a:avLst/>
          </a:prstGeom>
        </p:spPr>
      </p:pic>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Tools for reasoning</a:t>
            </a:r>
            <a:endParaRPr lang="en-US"/>
          </a:p>
        </p:txBody>
      </p:sp>
      <p:pic>
        <p:nvPicPr>
          <p:cNvPr id="4" name="Content Placeholder 3"/>
          <p:cNvPicPr>
            <a:picLocks noChangeAspect="1"/>
          </p:cNvPicPr>
          <p:nvPr>
            <p:ph idx="1"/>
          </p:nvPr>
        </p:nvPicPr>
        <p:blipFill>
          <a:blip r:embed="rId1"/>
          <a:stretch>
            <a:fillRect/>
          </a:stretch>
        </p:blipFill>
        <p:spPr>
          <a:xfrm>
            <a:off x="1191895" y="1825625"/>
            <a:ext cx="9807575" cy="4351655"/>
          </a:xfrm>
          <a:prstGeom prst="rect">
            <a:avLst/>
          </a:prstGeom>
        </p:spPr>
      </p:pic>
      <p:sp>
        <p:nvSpPr>
          <p:cNvPr id="3" name="Text Box 2"/>
          <p:cNvSpPr txBox="1"/>
          <p:nvPr/>
        </p:nvSpPr>
        <p:spPr>
          <a:xfrm>
            <a:off x="7135495" y="1379220"/>
            <a:ext cx="4083050" cy="645160"/>
          </a:xfrm>
          <a:prstGeom prst="rect">
            <a:avLst/>
          </a:prstGeom>
          <a:noFill/>
        </p:spPr>
        <p:txBody>
          <a:bodyPr wrap="square" rtlCol="0" anchor="t">
            <a:spAutoFit/>
          </a:bodyPr>
          <a:p>
            <a:r>
              <a:rPr lang="en-US">
                <a:sym typeface="+mn-ea"/>
              </a:rPr>
              <a:t>LLM in general are bad in calculations, that is why agents are used to help.  </a:t>
            </a:r>
            <a:endParaRPr lang="en-US">
              <a:sym typeface="+mn-ea"/>
            </a:endParaRPr>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Agents	</a:t>
            </a:r>
            <a:endParaRPr lang="en-US"/>
          </a:p>
        </p:txBody>
      </p:sp>
      <p:sp>
        <p:nvSpPr>
          <p:cNvPr id="3" name="Content Placeholder 2"/>
          <p:cNvSpPr>
            <a:spLocks noGrp="1"/>
          </p:cNvSpPr>
          <p:nvPr>
            <p:ph idx="1"/>
          </p:nvPr>
        </p:nvSpPr>
        <p:spPr/>
        <p:txBody>
          <a:bodyPr/>
          <a:p>
            <a:r>
              <a:rPr lang="en-US"/>
              <a:t>Use LLM to choose and carry out complex sequences of actions</a:t>
            </a:r>
            <a:endParaRPr lang="en-US"/>
          </a:p>
          <a:p>
            <a:r>
              <a:rPr lang="en-US"/>
              <a:t>Cutting edge area of AI research</a:t>
            </a:r>
            <a:endParaRPr lang="en-US"/>
          </a:p>
          <a:p>
            <a:endParaRPr lang="en-US"/>
          </a:p>
          <a:p>
            <a:pPr marL="0" indent="0">
              <a:buNone/>
            </a:pPr>
            <a:endParaRPr lang="en-US"/>
          </a:p>
        </p:txBody>
      </p:sp>
      <p:pic>
        <p:nvPicPr>
          <p:cNvPr id="4" name="Picture 3"/>
          <p:cNvPicPr>
            <a:picLocks noChangeAspect="1"/>
          </p:cNvPicPr>
          <p:nvPr/>
        </p:nvPicPr>
        <p:blipFill>
          <a:blip r:embed="rId1"/>
          <a:stretch>
            <a:fillRect/>
          </a:stretch>
        </p:blipFill>
        <p:spPr>
          <a:xfrm>
            <a:off x="1301750" y="3036570"/>
            <a:ext cx="9944100" cy="3366135"/>
          </a:xfrm>
          <a:prstGeom prst="rect">
            <a:avLst/>
          </a:prstGeom>
        </p:spPr>
      </p:pic>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a:t>LLM + Tools </a:t>
            </a:r>
            <a:endParaRPr lang="en-US" altLang="en-GB"/>
          </a:p>
        </p:txBody>
      </p:sp>
      <p:pic>
        <p:nvPicPr>
          <p:cNvPr id="5" name="Content Placeholder 4"/>
          <p:cNvPicPr>
            <a:picLocks noChangeAspect="1"/>
          </p:cNvPicPr>
          <p:nvPr>
            <p:ph idx="1"/>
          </p:nvPr>
        </p:nvPicPr>
        <p:blipFill>
          <a:blip r:embed="rId1"/>
          <a:stretch>
            <a:fillRect/>
          </a:stretch>
        </p:blipFill>
        <p:spPr>
          <a:xfrm>
            <a:off x="2709545" y="1825625"/>
            <a:ext cx="6772275" cy="4351655"/>
          </a:xfrm>
          <a:prstGeom prst="rect">
            <a:avLst/>
          </a:prstGeom>
        </p:spPr>
      </p:pic>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a:sym typeface="+mn-ea"/>
              </a:rPr>
              <a:t>LLM + Tools </a:t>
            </a:r>
            <a:endParaRPr lang="en-GB" altLang="en-US"/>
          </a:p>
        </p:txBody>
      </p:sp>
      <p:pic>
        <p:nvPicPr>
          <p:cNvPr id="5" name="Content Placeholder 4"/>
          <p:cNvPicPr>
            <a:picLocks noChangeAspect="1"/>
          </p:cNvPicPr>
          <p:nvPr>
            <p:ph idx="1"/>
          </p:nvPr>
        </p:nvPicPr>
        <p:blipFill>
          <a:blip r:embed="rId1"/>
          <a:stretch>
            <a:fillRect/>
          </a:stretch>
        </p:blipFill>
        <p:spPr>
          <a:xfrm>
            <a:off x="240665" y="1910080"/>
            <a:ext cx="5353685" cy="3869690"/>
          </a:xfrm>
          <a:prstGeom prst="rect">
            <a:avLst/>
          </a:prstGeom>
        </p:spPr>
      </p:pic>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pic>
        <p:nvPicPr>
          <p:cNvPr id="6" name="Picture 5"/>
          <p:cNvPicPr>
            <a:picLocks noChangeAspect="1"/>
          </p:cNvPicPr>
          <p:nvPr/>
        </p:nvPicPr>
        <p:blipFill>
          <a:blip r:embed="rId2"/>
          <a:stretch>
            <a:fillRect/>
          </a:stretch>
        </p:blipFill>
        <p:spPr>
          <a:xfrm>
            <a:off x="6055995" y="2124075"/>
            <a:ext cx="5980430" cy="3441700"/>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The input (and output) length is limited 	</a:t>
            </a:r>
            <a:endParaRPr lang="en-US"/>
          </a:p>
        </p:txBody>
      </p:sp>
      <p:sp>
        <p:nvSpPr>
          <p:cNvPr id="3" name="Content Placeholder 2"/>
          <p:cNvSpPr>
            <a:spLocks noGrp="1"/>
          </p:cNvSpPr>
          <p:nvPr>
            <p:ph idx="1"/>
          </p:nvPr>
        </p:nvSpPr>
        <p:spPr/>
        <p:txBody>
          <a:bodyPr/>
          <a:p>
            <a:r>
              <a:rPr lang="en-US"/>
              <a:t>Many LLMs can accept a prompt of up to only a few thousand words.</a:t>
            </a:r>
            <a:endParaRPr lang="en-US"/>
          </a:p>
          <a:p>
            <a:r>
              <a:rPr lang="en-US"/>
              <a:t>The total amount of context you can give it is limited</a:t>
            </a:r>
            <a:endParaRPr lang="en-US"/>
          </a:p>
        </p:txBody>
      </p:sp>
      <p:pic>
        <p:nvPicPr>
          <p:cNvPr id="4" name="Picture 3"/>
          <p:cNvPicPr>
            <a:picLocks noChangeAspect="1"/>
          </p:cNvPicPr>
          <p:nvPr/>
        </p:nvPicPr>
        <p:blipFill>
          <a:blip r:embed="rId1"/>
          <a:stretch>
            <a:fillRect/>
          </a:stretch>
        </p:blipFill>
        <p:spPr>
          <a:xfrm>
            <a:off x="1822450" y="2976880"/>
            <a:ext cx="7886700" cy="3762375"/>
          </a:xfrm>
          <a:prstGeom prst="rect">
            <a:avLst/>
          </a:prstGeom>
        </p:spPr>
      </p:pic>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The input (and output) length is limited </a:t>
            </a:r>
            <a:endParaRPr lang="en-US"/>
          </a:p>
        </p:txBody>
      </p:sp>
      <p:sp>
        <p:nvSpPr>
          <p:cNvPr id="3" name="Content Placeholder 2"/>
          <p:cNvSpPr>
            <a:spLocks noGrp="1"/>
          </p:cNvSpPr>
          <p:nvPr>
            <p:ph idx="1"/>
          </p:nvPr>
        </p:nvSpPr>
        <p:spPr/>
        <p:txBody>
          <a:bodyPr/>
          <a:p>
            <a:r>
              <a:rPr lang="en-US"/>
              <a:t>Many LLMs can accept a prompt of up to only a few thousand words.</a:t>
            </a:r>
            <a:endParaRPr lang="en-US"/>
          </a:p>
          <a:p>
            <a:r>
              <a:rPr lang="en-US"/>
              <a:t>The total amount of context you can give it is limited</a:t>
            </a:r>
            <a:endParaRPr lang="en-US"/>
          </a:p>
          <a:p>
            <a:r>
              <a:rPr lang="en-US"/>
              <a:t>Some LLMs have longer context limits – up to 100,000 words</a:t>
            </a:r>
            <a:endParaRPr lang="en-US"/>
          </a:p>
          <a:p>
            <a:r>
              <a:rPr lang="en-US"/>
              <a:t>An LLM’s context length is the limit on the total input+output size </a:t>
            </a:r>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0"/>
            <a:ext cx="10515600" cy="997585"/>
          </a:xfrm>
        </p:spPr>
        <p:txBody>
          <a:bodyPr/>
          <a:p>
            <a:pPr algn="ctr"/>
            <a:r>
              <a:rPr lang="en-US" altLang="en-GB"/>
              <a:t>Comparing openAI models</a:t>
            </a:r>
            <a:endParaRPr lang="en-US" altLang="en-GB"/>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pic>
        <p:nvPicPr>
          <p:cNvPr id="5" name="Picture 4"/>
          <p:cNvPicPr>
            <a:picLocks noChangeAspect="1"/>
          </p:cNvPicPr>
          <p:nvPr/>
        </p:nvPicPr>
        <p:blipFill>
          <a:blip r:embed="rId1"/>
          <a:stretch>
            <a:fillRect/>
          </a:stretch>
        </p:blipFill>
        <p:spPr>
          <a:xfrm>
            <a:off x="1858010" y="889000"/>
            <a:ext cx="7774305" cy="5832475"/>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Q&amp;A</a:t>
            </a:r>
            <a:endParaRPr lang="en-US"/>
          </a:p>
        </p:txBody>
      </p:sp>
      <p:pic>
        <p:nvPicPr>
          <p:cNvPr id="120" name="Picture 119"/>
          <p:cNvPicPr/>
          <p:nvPr/>
        </p:nvPicPr>
        <p:blipFill>
          <a:blip r:embed="rId1"/>
          <a:stretch>
            <a:fillRect/>
          </a:stretch>
        </p:blipFill>
        <p:spPr>
          <a:xfrm>
            <a:off x="3786505" y="0"/>
            <a:ext cx="5170170" cy="2580005"/>
          </a:xfrm>
          <a:prstGeom prst="rect">
            <a:avLst/>
          </a:prstGeom>
          <a:noFill/>
          <a:ln w="9525">
            <a:noFill/>
          </a:ln>
        </p:spPr>
      </p:pic>
      <p:pic>
        <p:nvPicPr>
          <p:cNvPr id="121" name="Picture 120"/>
          <p:cNvPicPr/>
          <p:nvPr/>
        </p:nvPicPr>
        <p:blipFill>
          <a:blip r:embed="rId2"/>
          <a:stretch>
            <a:fillRect/>
          </a:stretch>
        </p:blipFill>
        <p:spPr>
          <a:xfrm>
            <a:off x="2470150" y="2580005"/>
            <a:ext cx="7802880" cy="2926080"/>
          </a:xfrm>
          <a:prstGeom prst="rect">
            <a:avLst/>
          </a:prstGeom>
          <a:noFill/>
          <a:ln w="9525">
            <a:noFill/>
          </a:ln>
        </p:spPr>
      </p:pic>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9059</Words>
  <Application>WPS Presentation</Application>
  <PresentationFormat>Widescreen</PresentationFormat>
  <Paragraphs>465</Paragraphs>
  <Slides>68</Slides>
  <Notes>0</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68</vt:i4>
      </vt:variant>
    </vt:vector>
  </HeadingPairs>
  <TitlesOfParts>
    <vt:vector size="80" baseType="lpstr">
      <vt:lpstr>Arial</vt:lpstr>
      <vt:lpstr>SimSun</vt:lpstr>
      <vt:lpstr>Wingdings</vt:lpstr>
      <vt:lpstr>Calibri</vt:lpstr>
      <vt:lpstr>Arial</vt:lpstr>
      <vt:lpstr>Calibri Light</vt:lpstr>
      <vt:lpstr>Microsoft YaHei</vt:lpstr>
      <vt:lpstr>Arial Unicode MS</vt:lpstr>
      <vt:lpstr>Times New Roman</vt:lpstr>
      <vt:lpstr>Calibri</vt:lpstr>
      <vt:lpstr>Office Theme</vt:lpstr>
      <vt:lpstr>Paint.Picture</vt:lpstr>
      <vt:lpstr>NLP 4 Master - Part 2: LLMs</vt:lpstr>
      <vt:lpstr>Copyright Notice</vt:lpstr>
      <vt:lpstr>What is generative AI?</vt:lpstr>
      <vt:lpstr>Gen AI Tools for end users (mobile App)</vt:lpstr>
      <vt:lpstr>Processors with Neural Engine</vt:lpstr>
      <vt:lpstr>Gen AI Tools for end users (Copilot Web App)</vt:lpstr>
      <vt:lpstr>Generative AI is also a developer tool</vt:lpstr>
      <vt:lpstr>How generative AI works</vt:lpstr>
      <vt:lpstr>Supervised learning (labeling things)</vt:lpstr>
      <vt:lpstr>Supervised learning (labeling things)</vt:lpstr>
      <vt:lpstr>How LLMs work?</vt:lpstr>
      <vt:lpstr>The Language Model </vt:lpstr>
      <vt:lpstr>2010-2020: Large scale supervised learning</vt:lpstr>
      <vt:lpstr>Large Language Models (LLMs) </vt:lpstr>
      <vt:lpstr>Generating text using Base LLM</vt:lpstr>
      <vt:lpstr>Prompts and completions</vt:lpstr>
      <vt:lpstr>How LLMs work? </vt:lpstr>
      <vt:lpstr>Multi-task, instruction fine-tuning</vt:lpstr>
      <vt:lpstr>T5 LLM model used for several tasks </vt:lpstr>
      <vt:lpstr>Types of LLMs </vt:lpstr>
      <vt:lpstr>Types of LLMs </vt:lpstr>
      <vt:lpstr>Helpful, Honest, Harmless: HHH </vt:lpstr>
      <vt:lpstr>Reinforcement Learning</vt:lpstr>
      <vt:lpstr>Reinforcement learning (RL)</vt:lpstr>
      <vt:lpstr>Reinforcement learning: Tic-Tac-Toe</vt:lpstr>
      <vt:lpstr>Reinforcement learning: fine-tune LLMs </vt:lpstr>
      <vt:lpstr>How do chat systems learn to follow instructions?</vt:lpstr>
      <vt:lpstr>Collect human feedback</vt:lpstr>
      <vt:lpstr>Sample instructions for human labelers</vt:lpstr>
      <vt:lpstr>LLM size </vt:lpstr>
      <vt:lpstr>Model size</vt:lpstr>
      <vt:lpstr>LLM Size (Llama 2)</vt:lpstr>
      <vt:lpstr>LLM Size (Code Llama 2)</vt:lpstr>
      <vt:lpstr>Large Language Models</vt:lpstr>
      <vt:lpstr>The significance of scale: language understanding</vt:lpstr>
      <vt:lpstr>PowerPoint 演示文稿</vt:lpstr>
      <vt:lpstr>model size (# of parameters)</vt:lpstr>
      <vt:lpstr>model size (# of tokens)</vt:lpstr>
      <vt:lpstr>Model size vs. time</vt:lpstr>
      <vt:lpstr>Model size</vt:lpstr>
      <vt:lpstr>Training data domain </vt:lpstr>
      <vt:lpstr>Technical Factors in choosing a LLM</vt:lpstr>
      <vt:lpstr>Technical Factors in choosing a LLM</vt:lpstr>
      <vt:lpstr>Technical Factors in choosing a LLM</vt:lpstr>
      <vt:lpstr>Closed or open source?</vt:lpstr>
      <vt:lpstr>LLM Capabilities</vt:lpstr>
      <vt:lpstr>Summarizing an article</vt:lpstr>
      <vt:lpstr>Meeting Copliot recap in MS Teams  </vt:lpstr>
      <vt:lpstr>Summarizing call center conversations</vt:lpstr>
      <vt:lpstr>Summarizing conversations</vt:lpstr>
      <vt:lpstr>Summarizing call center conversations</vt:lpstr>
      <vt:lpstr>Customer email analysis</vt:lpstr>
      <vt:lpstr>Detailed look at email routing prompt</vt:lpstr>
      <vt:lpstr>Dashboard to track customer sentiment over time</vt:lpstr>
      <vt:lpstr>LLM as reasoning engine</vt:lpstr>
      <vt:lpstr>What LLMs can and cannot do</vt:lpstr>
      <vt:lpstr>What LLMs are Good vs Bad at</vt:lpstr>
      <vt:lpstr>LLMs are bad at current events: Knowledge cut-offs in LLMs</vt:lpstr>
      <vt:lpstr>Making things up: Hallucinations</vt:lpstr>
      <vt:lpstr>Making things up: Hallucinations</vt:lpstr>
      <vt:lpstr>Tools for reasoning</vt:lpstr>
      <vt:lpstr>Agents	</vt:lpstr>
      <vt:lpstr>LLM + Tools </vt:lpstr>
      <vt:lpstr>LLM + Tools </vt:lpstr>
      <vt:lpstr>The input (and output) length is limited 	</vt:lpstr>
      <vt:lpstr>The input (and output) length is limited </vt:lpstr>
      <vt:lpstr>Comparing openAI models</vt:lpstr>
      <vt:lpstr>Q&amp;A</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Motaz Saad (‫معتز سعد</cp:lastModifiedBy>
  <cp:revision>244</cp:revision>
  <dcterms:created xsi:type="dcterms:W3CDTF">2024-07-10T06:40:00Z</dcterms:created>
  <dcterms:modified xsi:type="dcterms:W3CDTF">2025-09-19T04:16:58Z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0F3C56F5F6ED4D0192480AFA356E2D16_13</vt:lpwstr>
  </property>
  <property fmtid="{D5CDD505-2E9C-101B-9397-08002B2CF9AE}" pid="3" name="KSOProductBuildVer">
    <vt:lpwstr>2057-12.2.0.22556</vt:lpwstr>
  </property>
</Properties>
</file>